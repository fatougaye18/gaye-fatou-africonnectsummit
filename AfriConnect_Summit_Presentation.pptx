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5" d="100"/>
          <a:sy n="65" d="100"/>
        </p:scale>
        <p:origin x="9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77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714"/>
        </a:solidFill>
        <a:effectLst/>
      </p:bgPr>
    </p:bg>
    <p:spTree>
      <p:nvGrpSpPr>
        <p:cNvPr id="1" name=""/>
        <p:cNvGrpSpPr/>
        <p:nvPr/>
      </p:nvGrpSpPr>
      <p:grpSpPr>
        <a:xfrm>
          <a:off x="0" y="0"/>
          <a:ext cx="0" cy="0"/>
          <a:chOff x="0" y="0"/>
          <a:chExt cx="0" cy="0"/>
        </a:xfrm>
      </p:grpSpPr>
      <p:sp>
        <p:nvSpPr>
          <p:cNvPr id="2" name="Shape 0"/>
          <p:cNvSpPr/>
          <p:nvPr/>
        </p:nvSpPr>
        <p:spPr>
          <a:xfrm>
            <a:off x="5394960" y="1234440"/>
            <a:ext cx="548640" cy="502920"/>
          </a:xfrm>
          <a:prstGeom prst="triangle">
            <a:avLst/>
          </a:prstGeom>
          <a:solidFill>
            <a:srgbClr val="8B5CF6"/>
          </a:solidFill>
          <a:ln/>
        </p:spPr>
      </p:sp>
      <p:sp>
        <p:nvSpPr>
          <p:cNvPr id="3" name="Text 1"/>
          <p:cNvSpPr/>
          <p:nvPr/>
        </p:nvSpPr>
        <p:spPr>
          <a:xfrm>
            <a:off x="0" y="1965960"/>
            <a:ext cx="12188952" cy="365760"/>
          </a:xfrm>
          <a:prstGeom prst="rect">
            <a:avLst/>
          </a:prstGeom>
          <a:noFill/>
          <a:ln/>
        </p:spPr>
        <p:txBody>
          <a:bodyPr wrap="square" lIns="0" tIns="0" rIns="0" bIns="0" rtlCol="0" anchor="ctr"/>
          <a:lstStyle/>
          <a:p>
            <a:pPr marL="0" indent="0" algn="ctr">
              <a:buNone/>
            </a:pPr>
            <a:r>
              <a:rPr lang="en-US" sz="1400" b="1" kern="0" spc="300" dirty="0">
                <a:solidFill>
                  <a:srgbClr val="A78BFA"/>
                </a:solidFill>
                <a:latin typeface="Calibri" pitchFamily="34" charset="0"/>
                <a:ea typeface="Calibri" pitchFamily="34" charset="-122"/>
                <a:cs typeface="Calibri" pitchFamily="34" charset="-120"/>
              </a:rPr>
              <a:t>AFRICONNECT SUMMIT 2026</a:t>
            </a:r>
            <a:endParaRPr lang="en-US" sz="1400" dirty="0"/>
          </a:p>
        </p:txBody>
      </p:sp>
      <p:sp>
        <p:nvSpPr>
          <p:cNvPr id="4" name="Text 2"/>
          <p:cNvSpPr/>
          <p:nvPr/>
        </p:nvSpPr>
        <p:spPr>
          <a:xfrm>
            <a:off x="914400" y="2423160"/>
            <a:ext cx="10360152" cy="1005840"/>
          </a:xfrm>
          <a:prstGeom prst="rect">
            <a:avLst/>
          </a:prstGeom>
          <a:noFill/>
          <a:ln/>
        </p:spPr>
        <p:txBody>
          <a:bodyPr wrap="square" lIns="0" tIns="0" rIns="0" bIns="0" rtlCol="0" anchor="ctr"/>
          <a:lstStyle/>
          <a:p>
            <a:pPr marL="0" indent="0" algn="ctr">
              <a:buNone/>
            </a:pPr>
            <a:r>
              <a:rPr lang="en-US" sz="4000" b="1" dirty="0">
                <a:solidFill>
                  <a:srgbClr val="F5F3FA"/>
                </a:solidFill>
                <a:latin typeface="Calibri" pitchFamily="34" charset="0"/>
                <a:ea typeface="Calibri" pitchFamily="34" charset="-122"/>
                <a:cs typeface="Calibri" pitchFamily="34" charset="-120"/>
              </a:rPr>
              <a:t>Conception d'un site web événementiel</a:t>
            </a:r>
            <a:endParaRPr lang="en-US" sz="4000" dirty="0"/>
          </a:p>
        </p:txBody>
      </p:sp>
      <p:sp>
        <p:nvSpPr>
          <p:cNvPr id="5" name="Text 3"/>
          <p:cNvSpPr/>
          <p:nvPr/>
        </p:nvSpPr>
        <p:spPr>
          <a:xfrm>
            <a:off x="914400" y="3429000"/>
            <a:ext cx="10360152" cy="457200"/>
          </a:xfrm>
          <a:prstGeom prst="rect">
            <a:avLst/>
          </a:prstGeom>
          <a:noFill/>
          <a:ln/>
        </p:spPr>
        <p:txBody>
          <a:bodyPr wrap="square" lIns="0" tIns="0" rIns="0" bIns="0" rtlCol="0" anchor="ctr"/>
          <a:lstStyle/>
          <a:p>
            <a:pPr marL="0" indent="0" algn="ctr">
              <a:buNone/>
            </a:pPr>
            <a:r>
              <a:rPr lang="en-US" sz="1600" dirty="0">
                <a:solidFill>
                  <a:srgbClr val="9A94B3"/>
                </a:solidFill>
                <a:latin typeface="Calibri" pitchFamily="34" charset="0"/>
                <a:ea typeface="Calibri" pitchFamily="34" charset="-122"/>
                <a:cs typeface="Calibri" pitchFamily="34" charset="-120"/>
              </a:rPr>
              <a:t>HTML5 · CSS3 · JavaScript vanilla · Git &amp; GitHub Pages</a:t>
            </a:r>
            <a:endParaRPr lang="en-US" sz="1600" dirty="0"/>
          </a:p>
        </p:txBody>
      </p:sp>
      <p:sp>
        <p:nvSpPr>
          <p:cNvPr id="6" name="Shape 4"/>
          <p:cNvSpPr/>
          <p:nvPr/>
        </p:nvSpPr>
        <p:spPr>
          <a:xfrm>
            <a:off x="5175504" y="4160520"/>
            <a:ext cx="1828800" cy="0"/>
          </a:xfrm>
          <a:prstGeom prst="line">
            <a:avLst/>
          </a:prstGeom>
          <a:noFill/>
          <a:ln w="12700">
            <a:solidFill>
              <a:srgbClr val="2A2440"/>
            </a:solidFill>
            <a:prstDash val="solid"/>
          </a:ln>
        </p:spPr>
      </p:sp>
      <p:sp>
        <p:nvSpPr>
          <p:cNvPr id="7" name="Text 5"/>
          <p:cNvSpPr/>
          <p:nvPr/>
        </p:nvSpPr>
        <p:spPr>
          <a:xfrm>
            <a:off x="914400" y="4343400"/>
            <a:ext cx="10360152" cy="457200"/>
          </a:xfrm>
          <a:prstGeom prst="rect">
            <a:avLst/>
          </a:prstGeom>
          <a:noFill/>
          <a:ln/>
        </p:spPr>
        <p:txBody>
          <a:bodyPr wrap="square" lIns="0" tIns="0" rIns="0" bIns="0" rtlCol="0" anchor="ctr"/>
          <a:lstStyle/>
          <a:p>
            <a:pPr marL="0" indent="0" algn="ctr">
              <a:buNone/>
            </a:pPr>
            <a:r>
              <a:rPr lang="en-US" sz="1400" b="1" dirty="0">
                <a:solidFill>
                  <a:srgbClr val="F5F3FA"/>
                </a:solidFill>
                <a:latin typeface="Calibri" pitchFamily="34" charset="0"/>
                <a:ea typeface="Calibri" pitchFamily="34" charset="-122"/>
                <a:cs typeface="Calibri" pitchFamily="34" charset="-120"/>
              </a:rPr>
              <a:t>Fatou Gaye</a:t>
            </a:r>
            <a:r>
              <a:rPr lang="en-US" sz="1400" dirty="0">
                <a:solidFill>
                  <a:srgbClr val="9A94B3"/>
                </a:solidFill>
                <a:latin typeface="Calibri" pitchFamily="34" charset="0"/>
                <a:ea typeface="Calibri" pitchFamily="34" charset="-122"/>
                <a:cs typeface="Calibri" pitchFamily="34" charset="-120"/>
              </a:rPr>
              <a:t>  ·  Examen Web L1  ·  Institut Supérieur </a:t>
            </a:r>
            <a:r>
              <a:rPr lang="en-US" sz="1400" dirty="0" err="1">
                <a:solidFill>
                  <a:srgbClr val="9A94B3"/>
                </a:solidFill>
                <a:latin typeface="Calibri" pitchFamily="34" charset="0"/>
                <a:ea typeface="Calibri" pitchFamily="34" charset="-122"/>
                <a:cs typeface="Calibri" pitchFamily="34" charset="-120"/>
              </a:rPr>
              <a:t>d'Informatique</a:t>
            </a:r>
            <a:r>
              <a:rPr lang="en-US" sz="1400" dirty="0">
                <a:solidFill>
                  <a:srgbClr val="9A94B3"/>
                </a:solidFill>
                <a:latin typeface="Calibri" pitchFamily="34" charset="0"/>
                <a:ea typeface="Calibri" pitchFamily="34" charset="-122"/>
                <a:cs typeface="Calibri" pitchFamily="34" charset="-120"/>
              </a:rPr>
              <a:t> ( ISI)</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714"/>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buNone/>
            </a:pPr>
            <a:r>
              <a:rPr lang="en-US" sz="1200" b="1" kern="0" spc="200" dirty="0">
                <a:solidFill>
                  <a:srgbClr val="A78BFA"/>
                </a:solidFill>
                <a:latin typeface="Calibri" pitchFamily="34" charset="0"/>
                <a:ea typeface="Calibri" pitchFamily="34" charset="-122"/>
                <a:cs typeface="Calibri" pitchFamily="34" charset="-120"/>
              </a:rPr>
              <a:t>CONTEXTE DU PROJET</a:t>
            </a:r>
            <a:endParaRPr lang="en-US" sz="1200" dirty="0"/>
          </a:p>
        </p:txBody>
      </p:sp>
      <p:sp>
        <p:nvSpPr>
          <p:cNvPr id="3" name="Text 1"/>
          <p:cNvSpPr/>
          <p:nvPr/>
        </p:nvSpPr>
        <p:spPr>
          <a:xfrm>
            <a:off x="640080" y="822960"/>
            <a:ext cx="7863840" cy="822960"/>
          </a:xfrm>
          <a:prstGeom prst="rect">
            <a:avLst/>
          </a:prstGeom>
          <a:noFill/>
          <a:ln/>
        </p:spPr>
        <p:txBody>
          <a:bodyPr wrap="square" lIns="0" tIns="0" rIns="0" bIns="0" rtlCol="0" anchor="ctr"/>
          <a:lstStyle/>
          <a:p>
            <a:pPr marL="0" indent="0">
              <a:buNone/>
            </a:pPr>
            <a:r>
              <a:rPr lang="en-US" sz="2800" b="1" dirty="0">
                <a:solidFill>
                  <a:srgbClr val="F5F3FA"/>
                </a:solidFill>
                <a:latin typeface="Calibri" pitchFamily="34" charset="0"/>
                <a:ea typeface="Calibri" pitchFamily="34" charset="-122"/>
                <a:cs typeface="Calibri" pitchFamily="34" charset="-120"/>
              </a:rPr>
              <a:t>Un site vitrine pour une conférence tech panafricaine</a:t>
            </a:r>
            <a:endParaRPr lang="en-US" sz="2800" dirty="0"/>
          </a:p>
        </p:txBody>
      </p:sp>
      <p:sp>
        <p:nvSpPr>
          <p:cNvPr id="4" name="Text 2"/>
          <p:cNvSpPr/>
          <p:nvPr/>
        </p:nvSpPr>
        <p:spPr>
          <a:xfrm>
            <a:off x="640080" y="1828800"/>
            <a:ext cx="6675120" cy="2011680"/>
          </a:xfrm>
          <a:prstGeom prst="rect">
            <a:avLst/>
          </a:prstGeom>
          <a:noFill/>
          <a:ln/>
        </p:spPr>
        <p:txBody>
          <a:bodyPr wrap="square" lIns="0" tIns="0" rIns="0" bIns="0" rtlCol="0" anchor="t"/>
          <a:lstStyle/>
          <a:p>
            <a:pPr marL="0" indent="0">
              <a:lnSpc>
                <a:spcPct val="130000"/>
              </a:lnSpc>
              <a:buNone/>
            </a:pPr>
            <a:r>
              <a:rPr lang="en-US" sz="1500" dirty="0">
                <a:solidFill>
                  <a:srgbClr val="9A94B3"/>
                </a:solidFill>
                <a:latin typeface="Calibri" pitchFamily="34" charset="0"/>
                <a:ea typeface="Calibri" pitchFamily="34" charset="-122"/>
                <a:cs typeface="Calibri" pitchFamily="34" charset="-120"/>
              </a:rPr>
              <a:t>L'Afrique francophone accueille chaque année des centaines d'événements tech, mais peu disposent d'une présence web à la hauteur de leur ambition. Le projet consiste à concevoir et développer le site vitrine complet d'AfriConnect Summit, une conférence tech panafricaine fictive réunissant développeurs, entrepreneurs et investisseurs du continent.</a:t>
            </a:r>
            <a:endParaRPr lang="en-US" sz="1500" dirty="0"/>
          </a:p>
        </p:txBody>
      </p:sp>
      <p:sp>
        <p:nvSpPr>
          <p:cNvPr id="5" name="Shape 3"/>
          <p:cNvSpPr/>
          <p:nvPr/>
        </p:nvSpPr>
        <p:spPr>
          <a:xfrm>
            <a:off x="640080" y="4114800"/>
            <a:ext cx="2103120" cy="1371600"/>
          </a:xfrm>
          <a:prstGeom prst="roundRect">
            <a:avLst>
              <a:gd name="adj" fmla="val 6667"/>
            </a:avLst>
          </a:prstGeom>
          <a:solidFill>
            <a:srgbClr val="14101F"/>
          </a:solidFill>
          <a:ln w="12700">
            <a:solidFill>
              <a:srgbClr val="2A2440"/>
            </a:solidFill>
            <a:prstDash val="solid"/>
          </a:ln>
        </p:spPr>
      </p:sp>
      <p:sp>
        <p:nvSpPr>
          <p:cNvPr id="6" name="Text 4"/>
          <p:cNvSpPr/>
          <p:nvPr/>
        </p:nvSpPr>
        <p:spPr>
          <a:xfrm>
            <a:off x="640080" y="4251960"/>
            <a:ext cx="2103120" cy="640080"/>
          </a:xfrm>
          <a:prstGeom prst="rect">
            <a:avLst/>
          </a:prstGeom>
          <a:noFill/>
          <a:ln/>
        </p:spPr>
        <p:txBody>
          <a:bodyPr wrap="square" lIns="0" tIns="0" rIns="0" bIns="0" rtlCol="0" anchor="ctr"/>
          <a:lstStyle/>
          <a:p>
            <a:pPr marL="0" indent="0" algn="ctr">
              <a:buNone/>
            </a:pPr>
            <a:r>
              <a:rPr lang="en-US" sz="3000" b="1" dirty="0">
                <a:solidFill>
                  <a:srgbClr val="8B5CF6"/>
                </a:solidFill>
                <a:latin typeface="Calibri" pitchFamily="34" charset="0"/>
                <a:ea typeface="Calibri" pitchFamily="34" charset="-122"/>
                <a:cs typeface="Calibri" pitchFamily="34" charset="-120"/>
              </a:rPr>
              <a:t>4</a:t>
            </a:r>
            <a:endParaRPr lang="en-US" sz="3000" dirty="0"/>
          </a:p>
        </p:txBody>
      </p:sp>
      <p:sp>
        <p:nvSpPr>
          <p:cNvPr id="7" name="Text 5"/>
          <p:cNvSpPr/>
          <p:nvPr/>
        </p:nvSpPr>
        <p:spPr>
          <a:xfrm>
            <a:off x="640080" y="4892040"/>
            <a:ext cx="2103120" cy="365760"/>
          </a:xfrm>
          <a:prstGeom prst="rect">
            <a:avLst/>
          </a:prstGeom>
          <a:noFill/>
          <a:ln/>
        </p:spPr>
        <p:txBody>
          <a:bodyPr wrap="square" lIns="0" tIns="0" rIns="0" bIns="0" rtlCol="0" anchor="ctr"/>
          <a:lstStyle/>
          <a:p>
            <a:pPr marL="0" indent="0" algn="ctr">
              <a:buNone/>
            </a:pPr>
            <a:r>
              <a:rPr lang="en-US" sz="1200" dirty="0">
                <a:solidFill>
                  <a:srgbClr val="9A94B3"/>
                </a:solidFill>
                <a:latin typeface="Calibri" pitchFamily="34" charset="0"/>
                <a:ea typeface="Calibri" pitchFamily="34" charset="-122"/>
                <a:cs typeface="Calibri" pitchFamily="34" charset="-120"/>
              </a:rPr>
              <a:t>Pages HTML</a:t>
            </a:r>
            <a:endParaRPr lang="en-US" sz="1200" dirty="0"/>
          </a:p>
        </p:txBody>
      </p:sp>
      <p:sp>
        <p:nvSpPr>
          <p:cNvPr id="8" name="Shape 6"/>
          <p:cNvSpPr/>
          <p:nvPr/>
        </p:nvSpPr>
        <p:spPr>
          <a:xfrm>
            <a:off x="2971800" y="4114800"/>
            <a:ext cx="2103120" cy="1371600"/>
          </a:xfrm>
          <a:prstGeom prst="roundRect">
            <a:avLst>
              <a:gd name="adj" fmla="val 6667"/>
            </a:avLst>
          </a:prstGeom>
          <a:solidFill>
            <a:srgbClr val="14101F"/>
          </a:solidFill>
          <a:ln w="12700">
            <a:solidFill>
              <a:srgbClr val="2A2440"/>
            </a:solidFill>
            <a:prstDash val="solid"/>
          </a:ln>
        </p:spPr>
      </p:sp>
      <p:sp>
        <p:nvSpPr>
          <p:cNvPr id="9" name="Text 7"/>
          <p:cNvSpPr/>
          <p:nvPr/>
        </p:nvSpPr>
        <p:spPr>
          <a:xfrm>
            <a:off x="2971800" y="4251960"/>
            <a:ext cx="2103120" cy="640080"/>
          </a:xfrm>
          <a:prstGeom prst="rect">
            <a:avLst/>
          </a:prstGeom>
          <a:noFill/>
          <a:ln/>
        </p:spPr>
        <p:txBody>
          <a:bodyPr wrap="square" lIns="0" tIns="0" rIns="0" bIns="0" rtlCol="0" anchor="ctr"/>
          <a:lstStyle/>
          <a:p>
            <a:pPr marL="0" indent="0" algn="ctr">
              <a:buNone/>
            </a:pPr>
            <a:r>
              <a:rPr lang="en-US" sz="3000" b="1" dirty="0">
                <a:solidFill>
                  <a:srgbClr val="8B5CF6"/>
                </a:solidFill>
                <a:latin typeface="Calibri" pitchFamily="34" charset="0"/>
                <a:ea typeface="Calibri" pitchFamily="34" charset="-122"/>
                <a:cs typeface="Calibri" pitchFamily="34" charset="-120"/>
              </a:rPr>
              <a:t>100%</a:t>
            </a:r>
            <a:endParaRPr lang="en-US" sz="3000" dirty="0"/>
          </a:p>
        </p:txBody>
      </p:sp>
      <p:sp>
        <p:nvSpPr>
          <p:cNvPr id="10" name="Text 8"/>
          <p:cNvSpPr/>
          <p:nvPr/>
        </p:nvSpPr>
        <p:spPr>
          <a:xfrm>
            <a:off x="2971800" y="4892040"/>
            <a:ext cx="2103120" cy="365760"/>
          </a:xfrm>
          <a:prstGeom prst="rect">
            <a:avLst/>
          </a:prstGeom>
          <a:noFill/>
          <a:ln/>
        </p:spPr>
        <p:txBody>
          <a:bodyPr wrap="square" lIns="0" tIns="0" rIns="0" bIns="0" rtlCol="0" anchor="ctr"/>
          <a:lstStyle/>
          <a:p>
            <a:pPr marL="0" indent="0" algn="ctr">
              <a:buNone/>
            </a:pPr>
            <a:r>
              <a:rPr lang="en-US" sz="1200" dirty="0">
                <a:solidFill>
                  <a:srgbClr val="9A94B3"/>
                </a:solidFill>
                <a:latin typeface="Calibri" pitchFamily="34" charset="0"/>
                <a:ea typeface="Calibri" pitchFamily="34" charset="-122"/>
                <a:cs typeface="Calibri" pitchFamily="34" charset="-120"/>
              </a:rPr>
              <a:t>Responsive</a:t>
            </a:r>
            <a:endParaRPr lang="en-US" sz="1200" dirty="0"/>
          </a:p>
        </p:txBody>
      </p:sp>
      <p:sp>
        <p:nvSpPr>
          <p:cNvPr id="11" name="Shape 9"/>
          <p:cNvSpPr/>
          <p:nvPr/>
        </p:nvSpPr>
        <p:spPr>
          <a:xfrm>
            <a:off x="5303520" y="4114800"/>
            <a:ext cx="2103120" cy="1371600"/>
          </a:xfrm>
          <a:prstGeom prst="roundRect">
            <a:avLst>
              <a:gd name="adj" fmla="val 6667"/>
            </a:avLst>
          </a:prstGeom>
          <a:solidFill>
            <a:srgbClr val="14101F"/>
          </a:solidFill>
          <a:ln w="12700">
            <a:solidFill>
              <a:srgbClr val="2A2440"/>
            </a:solidFill>
            <a:prstDash val="solid"/>
          </a:ln>
        </p:spPr>
      </p:sp>
      <p:sp>
        <p:nvSpPr>
          <p:cNvPr id="12" name="Text 10"/>
          <p:cNvSpPr/>
          <p:nvPr/>
        </p:nvSpPr>
        <p:spPr>
          <a:xfrm>
            <a:off x="5303520" y="4251960"/>
            <a:ext cx="2103120" cy="640080"/>
          </a:xfrm>
          <a:prstGeom prst="rect">
            <a:avLst/>
          </a:prstGeom>
          <a:noFill/>
          <a:ln/>
        </p:spPr>
        <p:txBody>
          <a:bodyPr wrap="square" lIns="0" tIns="0" rIns="0" bIns="0" rtlCol="0" anchor="ctr"/>
          <a:lstStyle/>
          <a:p>
            <a:pPr marL="0" indent="0" algn="ctr">
              <a:buNone/>
            </a:pPr>
            <a:r>
              <a:rPr lang="en-US" sz="3000" b="1" dirty="0">
                <a:solidFill>
                  <a:srgbClr val="8B5CF6"/>
                </a:solidFill>
                <a:latin typeface="Calibri" pitchFamily="34" charset="0"/>
                <a:ea typeface="Calibri" pitchFamily="34" charset="-122"/>
                <a:cs typeface="Calibri" pitchFamily="34" charset="-120"/>
              </a:rPr>
              <a:t>0</a:t>
            </a:r>
            <a:endParaRPr lang="en-US" sz="3000" dirty="0"/>
          </a:p>
        </p:txBody>
      </p:sp>
      <p:sp>
        <p:nvSpPr>
          <p:cNvPr id="13" name="Text 11"/>
          <p:cNvSpPr/>
          <p:nvPr/>
        </p:nvSpPr>
        <p:spPr>
          <a:xfrm>
            <a:off x="5303520" y="4892040"/>
            <a:ext cx="2103120" cy="365760"/>
          </a:xfrm>
          <a:prstGeom prst="rect">
            <a:avLst/>
          </a:prstGeom>
          <a:noFill/>
          <a:ln/>
        </p:spPr>
        <p:txBody>
          <a:bodyPr wrap="square" lIns="0" tIns="0" rIns="0" bIns="0" rtlCol="0" anchor="ctr"/>
          <a:lstStyle/>
          <a:p>
            <a:pPr marL="0" indent="0" algn="ctr">
              <a:buNone/>
            </a:pPr>
            <a:r>
              <a:rPr lang="en-US" sz="1200" dirty="0">
                <a:solidFill>
                  <a:srgbClr val="9A94B3"/>
                </a:solidFill>
                <a:latin typeface="Calibri" pitchFamily="34" charset="0"/>
                <a:ea typeface="Calibri" pitchFamily="34" charset="-122"/>
                <a:cs typeface="Calibri" pitchFamily="34" charset="-120"/>
              </a:rPr>
              <a:t>Framework JS</a:t>
            </a:r>
            <a:endParaRPr lang="en-US" sz="1200" dirty="0"/>
          </a:p>
        </p:txBody>
      </p:sp>
      <p:sp>
        <p:nvSpPr>
          <p:cNvPr id="14" name="Shape 12"/>
          <p:cNvSpPr/>
          <p:nvPr/>
        </p:nvSpPr>
        <p:spPr>
          <a:xfrm>
            <a:off x="8503920" y="1737360"/>
            <a:ext cx="3017520" cy="3840480"/>
          </a:xfrm>
          <a:prstGeom prst="roundRect">
            <a:avLst>
              <a:gd name="adj" fmla="val 3636"/>
            </a:avLst>
          </a:prstGeom>
          <a:solidFill>
            <a:srgbClr val="14101F"/>
          </a:solidFill>
          <a:ln w="12700">
            <a:solidFill>
              <a:srgbClr val="2A2440"/>
            </a:solidFill>
            <a:prstDash val="solid"/>
          </a:ln>
        </p:spPr>
      </p:sp>
      <p:sp>
        <p:nvSpPr>
          <p:cNvPr id="15" name="Shape 13"/>
          <p:cNvSpPr/>
          <p:nvPr/>
        </p:nvSpPr>
        <p:spPr>
          <a:xfrm>
            <a:off x="9646920" y="2286000"/>
            <a:ext cx="822960" cy="822960"/>
          </a:xfrm>
          <a:prstGeom prst="ellipse">
            <a:avLst/>
          </a:prstGeom>
          <a:solidFill>
            <a:srgbClr val="8B5CF6">
              <a:alpha val="18000"/>
            </a:srgbClr>
          </a:solidFill>
          <a:ln/>
        </p:spPr>
      </p:sp>
      <p:pic>
        <p:nvPicPr>
          <p:cNvPr id="16" name="Image 0" descr="/home/claude/pptx_project/icons/globe_FFFFFF.png"/>
          <p:cNvPicPr>
            <a:picLocks noChangeAspect="1"/>
          </p:cNvPicPr>
          <p:nvPr/>
        </p:nvPicPr>
        <p:blipFill>
          <a:blip r:embed="rId3"/>
          <a:stretch>
            <a:fillRect/>
          </a:stretch>
        </p:blipFill>
        <p:spPr>
          <a:xfrm>
            <a:off x="9844430" y="2483510"/>
            <a:ext cx="427939" cy="427939"/>
          </a:xfrm>
          <a:prstGeom prst="rect">
            <a:avLst/>
          </a:prstGeom>
        </p:spPr>
      </p:pic>
      <p:sp>
        <p:nvSpPr>
          <p:cNvPr id="17" name="Text 14"/>
          <p:cNvSpPr/>
          <p:nvPr/>
        </p:nvSpPr>
        <p:spPr>
          <a:xfrm>
            <a:off x="8503920" y="3337560"/>
            <a:ext cx="3017520" cy="365760"/>
          </a:xfrm>
          <a:prstGeom prst="rect">
            <a:avLst/>
          </a:prstGeom>
          <a:noFill/>
          <a:ln/>
        </p:spPr>
        <p:txBody>
          <a:bodyPr wrap="square" lIns="0" tIns="0" rIns="0" bIns="0" rtlCol="0" anchor="ctr"/>
          <a:lstStyle/>
          <a:p>
            <a:pPr marL="0" indent="0" algn="ctr">
              <a:buNone/>
            </a:pPr>
            <a:r>
              <a:rPr lang="en-US" sz="1500" b="1" dirty="0">
                <a:solidFill>
                  <a:srgbClr val="F5F3FA"/>
                </a:solidFill>
                <a:latin typeface="Calibri" pitchFamily="34" charset="0"/>
                <a:ea typeface="Calibri" pitchFamily="34" charset="-122"/>
                <a:cs typeface="Calibri" pitchFamily="34" charset="-120"/>
              </a:rPr>
              <a:t>Dakar, Sénégal</a:t>
            </a:r>
            <a:endParaRPr lang="en-US" sz="1500" dirty="0"/>
          </a:p>
        </p:txBody>
      </p:sp>
      <p:sp>
        <p:nvSpPr>
          <p:cNvPr id="18" name="Text 15"/>
          <p:cNvSpPr/>
          <p:nvPr/>
        </p:nvSpPr>
        <p:spPr>
          <a:xfrm>
            <a:off x="8503920" y="3657600"/>
            <a:ext cx="3017520" cy="320040"/>
          </a:xfrm>
          <a:prstGeom prst="rect">
            <a:avLst/>
          </a:prstGeom>
          <a:noFill/>
          <a:ln/>
        </p:spPr>
        <p:txBody>
          <a:bodyPr wrap="square" lIns="0" tIns="0" rIns="0" bIns="0" rtlCol="0" anchor="ctr"/>
          <a:lstStyle/>
          <a:p>
            <a:pPr marL="0" indent="0" algn="ctr">
              <a:buNone/>
            </a:pPr>
            <a:r>
              <a:rPr lang="en-US" sz="1100" dirty="0">
                <a:solidFill>
                  <a:srgbClr val="9A94B3"/>
                </a:solidFill>
                <a:latin typeface="Calibri" pitchFamily="34" charset="0"/>
                <a:ea typeface="Calibri" pitchFamily="34" charset="-122"/>
                <a:cs typeface="Calibri" pitchFamily="34" charset="-120"/>
              </a:rPr>
              <a:t>14 – 16 novembre 2026</a:t>
            </a:r>
            <a:endParaRPr lang="en-US" sz="1100" dirty="0"/>
          </a:p>
        </p:txBody>
      </p:sp>
      <p:sp>
        <p:nvSpPr>
          <p:cNvPr id="19" name="Shape 16"/>
          <p:cNvSpPr/>
          <p:nvPr/>
        </p:nvSpPr>
        <p:spPr>
          <a:xfrm>
            <a:off x="8869680" y="4160520"/>
            <a:ext cx="2286000" cy="0"/>
          </a:xfrm>
          <a:prstGeom prst="line">
            <a:avLst/>
          </a:prstGeom>
          <a:noFill/>
          <a:ln w="12700">
            <a:solidFill>
              <a:srgbClr val="2A2440"/>
            </a:solidFill>
            <a:prstDash val="solid"/>
          </a:ln>
        </p:spPr>
      </p:sp>
      <p:sp>
        <p:nvSpPr>
          <p:cNvPr id="20" name="Text 17"/>
          <p:cNvSpPr/>
          <p:nvPr/>
        </p:nvSpPr>
        <p:spPr>
          <a:xfrm>
            <a:off x="8732520" y="4343400"/>
            <a:ext cx="2560320" cy="1005840"/>
          </a:xfrm>
          <a:prstGeom prst="rect">
            <a:avLst/>
          </a:prstGeom>
          <a:noFill/>
          <a:ln/>
        </p:spPr>
        <p:txBody>
          <a:bodyPr wrap="square" lIns="0" tIns="0" rIns="0" bIns="0" rtlCol="0" anchor="ctr"/>
          <a:lstStyle/>
          <a:p>
            <a:pPr marL="0" indent="0" algn="ctr">
              <a:buNone/>
            </a:pPr>
            <a:r>
              <a:rPr lang="en-US" sz="1100" dirty="0">
                <a:solidFill>
                  <a:srgbClr val="9A94B3"/>
                </a:solidFill>
                <a:latin typeface="Calibri" pitchFamily="34" charset="0"/>
                <a:ea typeface="Calibri" pitchFamily="34" charset="-122"/>
                <a:cs typeface="Calibri" pitchFamily="34" charset="-120"/>
              </a:rPr>
              <a:t>Développeurs · Entrepreneurs · Investisseurs venus de tout le continent</a:t>
            </a:r>
            <a:endParaRPr lang="en-US" sz="1100" dirty="0"/>
          </a:p>
        </p:txBody>
      </p:sp>
      <p:sp>
        <p:nvSpPr>
          <p:cNvPr id="21" name="Text 18"/>
          <p:cNvSpPr/>
          <p:nvPr/>
        </p:nvSpPr>
        <p:spPr>
          <a:xfrm>
            <a:off x="457200" y="6537960"/>
            <a:ext cx="5486400" cy="274320"/>
          </a:xfrm>
          <a:prstGeom prst="rect">
            <a:avLst/>
          </a:prstGeom>
          <a:noFill/>
          <a:ln/>
        </p:spPr>
        <p:txBody>
          <a:bodyPr wrap="square" lIns="0" tIns="0" rIns="0" bIns="0" rtlCol="0" anchor="ctr"/>
          <a:lstStyle/>
          <a:p>
            <a:pPr marL="0" indent="0">
              <a:buNone/>
            </a:pPr>
            <a:r>
              <a:rPr lang="en-US" sz="1000" dirty="0">
                <a:solidFill>
                  <a:srgbClr val="9A94B3"/>
                </a:solidFill>
                <a:latin typeface="Calibri" pitchFamily="34" charset="0"/>
                <a:ea typeface="Calibri" pitchFamily="34" charset="-122"/>
                <a:cs typeface="Calibri" pitchFamily="34" charset="-120"/>
              </a:rPr>
              <a:t>AfriConnect Summit 2026 — Projet Web L1</a:t>
            </a:r>
            <a:endParaRPr lang="en-US" sz="1000" dirty="0"/>
          </a:p>
        </p:txBody>
      </p:sp>
      <p:sp>
        <p:nvSpPr>
          <p:cNvPr id="22" name="Text 19"/>
          <p:cNvSpPr/>
          <p:nvPr/>
        </p:nvSpPr>
        <p:spPr>
          <a:xfrm>
            <a:off x="11338560" y="6537960"/>
            <a:ext cx="457200" cy="274320"/>
          </a:xfrm>
          <a:prstGeom prst="rect">
            <a:avLst/>
          </a:prstGeom>
          <a:noFill/>
          <a:ln/>
        </p:spPr>
        <p:txBody>
          <a:bodyPr wrap="square" lIns="0" tIns="0" rIns="0" bIns="0" rtlCol="0" anchor="ctr"/>
          <a:lstStyle/>
          <a:p>
            <a:pPr marL="0" indent="0" algn="r">
              <a:buNone/>
            </a:pPr>
            <a:r>
              <a:rPr lang="en-US" sz="1000" dirty="0">
                <a:solidFill>
                  <a:srgbClr val="9A94B3"/>
                </a:solidFill>
                <a:latin typeface="Calibri" pitchFamily="34" charset="0"/>
                <a:ea typeface="Calibri" pitchFamily="34" charset="-122"/>
                <a:cs typeface="Calibri" pitchFamily="34" charset="-120"/>
              </a:rPr>
              <a:t>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714"/>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buNone/>
            </a:pPr>
            <a:r>
              <a:rPr lang="en-US" sz="1200" b="1" kern="0" spc="200" dirty="0">
                <a:solidFill>
                  <a:srgbClr val="A78BFA"/>
                </a:solidFill>
                <a:latin typeface="Calibri" pitchFamily="34" charset="0"/>
                <a:ea typeface="Calibri" pitchFamily="34" charset="-122"/>
                <a:cs typeface="Calibri" pitchFamily="34" charset="-120"/>
              </a:rPr>
              <a:t>OBJECTIFS PÉDAGOGIQUES</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marL="0" indent="0">
              <a:buNone/>
            </a:pPr>
            <a:r>
              <a:rPr lang="en-US" sz="2600" b="1" dirty="0">
                <a:solidFill>
                  <a:srgbClr val="F5F3FA"/>
                </a:solidFill>
                <a:latin typeface="Calibri" pitchFamily="34" charset="0"/>
                <a:ea typeface="Calibri" pitchFamily="34" charset="-122"/>
                <a:cs typeface="Calibri" pitchFamily="34" charset="-120"/>
              </a:rPr>
              <a:t>Quatre compétences techniques mises en pratique</a:t>
            </a:r>
            <a:endParaRPr lang="en-US" sz="2600" dirty="0"/>
          </a:p>
        </p:txBody>
      </p:sp>
      <p:sp>
        <p:nvSpPr>
          <p:cNvPr id="4" name="Shape 2"/>
          <p:cNvSpPr/>
          <p:nvPr/>
        </p:nvSpPr>
        <p:spPr>
          <a:xfrm>
            <a:off x="640080" y="1828800"/>
            <a:ext cx="5349240" cy="1920240"/>
          </a:xfrm>
          <a:prstGeom prst="roundRect">
            <a:avLst>
              <a:gd name="adj" fmla="val 4762"/>
            </a:avLst>
          </a:prstGeom>
          <a:solidFill>
            <a:srgbClr val="14101F"/>
          </a:solidFill>
          <a:ln w="12700">
            <a:solidFill>
              <a:srgbClr val="2A2440"/>
            </a:solidFill>
            <a:prstDash val="solid"/>
          </a:ln>
        </p:spPr>
      </p:sp>
      <p:sp>
        <p:nvSpPr>
          <p:cNvPr id="5" name="Shape 3"/>
          <p:cNvSpPr/>
          <p:nvPr/>
        </p:nvSpPr>
        <p:spPr>
          <a:xfrm>
            <a:off x="960120" y="2148840"/>
            <a:ext cx="640080" cy="640080"/>
          </a:xfrm>
          <a:prstGeom prst="ellipse">
            <a:avLst/>
          </a:prstGeom>
          <a:solidFill>
            <a:srgbClr val="8B5CF6">
              <a:alpha val="18000"/>
            </a:srgbClr>
          </a:solidFill>
          <a:ln/>
        </p:spPr>
      </p:sp>
      <p:pic>
        <p:nvPicPr>
          <p:cNvPr id="6" name="Image 0" descr="/home/claude/pptx_project/icons/code_FFFFFF.png"/>
          <p:cNvPicPr>
            <a:picLocks noChangeAspect="1"/>
          </p:cNvPicPr>
          <p:nvPr/>
        </p:nvPicPr>
        <p:blipFill>
          <a:blip r:embed="rId3"/>
          <a:stretch>
            <a:fillRect/>
          </a:stretch>
        </p:blipFill>
        <p:spPr>
          <a:xfrm>
            <a:off x="1113739" y="2302459"/>
            <a:ext cx="332842" cy="332842"/>
          </a:xfrm>
          <a:prstGeom prst="rect">
            <a:avLst/>
          </a:prstGeom>
        </p:spPr>
      </p:pic>
      <p:sp>
        <p:nvSpPr>
          <p:cNvPr id="7" name="Text 4"/>
          <p:cNvSpPr/>
          <p:nvPr/>
        </p:nvSpPr>
        <p:spPr>
          <a:xfrm>
            <a:off x="1783080" y="2121408"/>
            <a:ext cx="3977640" cy="365760"/>
          </a:xfrm>
          <a:prstGeom prst="rect">
            <a:avLst/>
          </a:prstGeom>
          <a:noFill/>
          <a:ln/>
        </p:spPr>
        <p:txBody>
          <a:bodyPr wrap="square" lIns="0" tIns="0" rIns="0" bIns="0" rtlCol="0" anchor="ctr"/>
          <a:lstStyle/>
          <a:p>
            <a:pPr marL="0" indent="0">
              <a:buNone/>
            </a:pPr>
            <a:r>
              <a:rPr lang="en-US" sz="1600" b="1" dirty="0">
                <a:solidFill>
                  <a:srgbClr val="F5F3FA"/>
                </a:solidFill>
                <a:latin typeface="Calibri" pitchFamily="34" charset="0"/>
                <a:ea typeface="Calibri" pitchFamily="34" charset="-122"/>
                <a:cs typeface="Calibri" pitchFamily="34" charset="-120"/>
              </a:rPr>
              <a:t>HTML5 sémantique</a:t>
            </a:r>
            <a:endParaRPr lang="en-US" sz="1600" dirty="0"/>
          </a:p>
        </p:txBody>
      </p:sp>
      <p:sp>
        <p:nvSpPr>
          <p:cNvPr id="8" name="Text 5"/>
          <p:cNvSpPr/>
          <p:nvPr/>
        </p:nvSpPr>
        <p:spPr>
          <a:xfrm>
            <a:off x="1783080" y="2487168"/>
            <a:ext cx="3931920" cy="1097280"/>
          </a:xfrm>
          <a:prstGeom prst="rect">
            <a:avLst/>
          </a:prstGeom>
          <a:noFill/>
          <a:ln/>
        </p:spPr>
        <p:txBody>
          <a:bodyPr wrap="square" lIns="0" tIns="0" rIns="0" bIns="0" rtlCol="0" anchor="t"/>
          <a:lstStyle/>
          <a:p>
            <a:pPr marL="0" indent="0">
              <a:lnSpc>
                <a:spcPct val="125000"/>
              </a:lnSpc>
              <a:buNone/>
            </a:pPr>
            <a:r>
              <a:rPr lang="en-US" sz="1200" dirty="0">
                <a:solidFill>
                  <a:srgbClr val="9A94B3"/>
                </a:solidFill>
                <a:latin typeface="Calibri" pitchFamily="34" charset="0"/>
                <a:ea typeface="Calibri" pitchFamily="34" charset="-122"/>
                <a:cs typeface="Calibri" pitchFamily="34" charset="-120"/>
              </a:rPr>
              <a:t>Structure logique, hiérarchie des titres, accessibilité (alt, aria-label), formulaires complets.</a:t>
            </a:r>
            <a:endParaRPr lang="en-US" sz="1200" dirty="0"/>
          </a:p>
        </p:txBody>
      </p:sp>
      <p:sp>
        <p:nvSpPr>
          <p:cNvPr id="9" name="Shape 6"/>
          <p:cNvSpPr/>
          <p:nvPr/>
        </p:nvSpPr>
        <p:spPr>
          <a:xfrm>
            <a:off x="6263640" y="1828800"/>
            <a:ext cx="5349240" cy="1920240"/>
          </a:xfrm>
          <a:prstGeom prst="roundRect">
            <a:avLst>
              <a:gd name="adj" fmla="val 4762"/>
            </a:avLst>
          </a:prstGeom>
          <a:solidFill>
            <a:srgbClr val="14101F"/>
          </a:solidFill>
          <a:ln w="12700">
            <a:solidFill>
              <a:srgbClr val="2A2440"/>
            </a:solidFill>
            <a:prstDash val="solid"/>
          </a:ln>
        </p:spPr>
      </p:sp>
      <p:sp>
        <p:nvSpPr>
          <p:cNvPr id="10" name="Shape 7"/>
          <p:cNvSpPr/>
          <p:nvPr/>
        </p:nvSpPr>
        <p:spPr>
          <a:xfrm>
            <a:off x="6583680" y="2148840"/>
            <a:ext cx="640080" cy="640080"/>
          </a:xfrm>
          <a:prstGeom prst="ellipse">
            <a:avLst/>
          </a:prstGeom>
          <a:solidFill>
            <a:srgbClr val="8B5CF6">
              <a:alpha val="18000"/>
            </a:srgbClr>
          </a:solidFill>
          <a:ln/>
        </p:spPr>
      </p:sp>
      <p:pic>
        <p:nvPicPr>
          <p:cNvPr id="11" name="Image 1" descr="/home/claude/pptx_project/icons/droplet_FFFFFF.png"/>
          <p:cNvPicPr>
            <a:picLocks noChangeAspect="1"/>
          </p:cNvPicPr>
          <p:nvPr/>
        </p:nvPicPr>
        <p:blipFill>
          <a:blip r:embed="rId4"/>
          <a:stretch>
            <a:fillRect/>
          </a:stretch>
        </p:blipFill>
        <p:spPr>
          <a:xfrm>
            <a:off x="6737299" y="2302459"/>
            <a:ext cx="332842" cy="332842"/>
          </a:xfrm>
          <a:prstGeom prst="rect">
            <a:avLst/>
          </a:prstGeom>
        </p:spPr>
      </p:pic>
      <p:sp>
        <p:nvSpPr>
          <p:cNvPr id="12" name="Text 8"/>
          <p:cNvSpPr/>
          <p:nvPr/>
        </p:nvSpPr>
        <p:spPr>
          <a:xfrm>
            <a:off x="7406640" y="2121408"/>
            <a:ext cx="3977640" cy="365760"/>
          </a:xfrm>
          <a:prstGeom prst="rect">
            <a:avLst/>
          </a:prstGeom>
          <a:noFill/>
          <a:ln/>
        </p:spPr>
        <p:txBody>
          <a:bodyPr wrap="square" lIns="0" tIns="0" rIns="0" bIns="0" rtlCol="0" anchor="ctr"/>
          <a:lstStyle/>
          <a:p>
            <a:pPr marL="0" indent="0">
              <a:buNone/>
            </a:pPr>
            <a:r>
              <a:rPr lang="en-US" sz="1600" b="1" dirty="0">
                <a:solidFill>
                  <a:srgbClr val="F5F3FA"/>
                </a:solidFill>
                <a:latin typeface="Calibri" pitchFamily="34" charset="0"/>
                <a:ea typeface="Calibri" pitchFamily="34" charset="-122"/>
                <a:cs typeface="Calibri" pitchFamily="34" charset="-120"/>
              </a:rPr>
              <a:t>CSS3 avancé</a:t>
            </a:r>
            <a:endParaRPr lang="en-US" sz="1600" dirty="0"/>
          </a:p>
        </p:txBody>
      </p:sp>
      <p:sp>
        <p:nvSpPr>
          <p:cNvPr id="13" name="Text 9"/>
          <p:cNvSpPr/>
          <p:nvPr/>
        </p:nvSpPr>
        <p:spPr>
          <a:xfrm>
            <a:off x="7406640" y="2487168"/>
            <a:ext cx="3931920" cy="1097280"/>
          </a:xfrm>
          <a:prstGeom prst="rect">
            <a:avLst/>
          </a:prstGeom>
          <a:noFill/>
          <a:ln/>
        </p:spPr>
        <p:txBody>
          <a:bodyPr wrap="square" lIns="0" tIns="0" rIns="0" bIns="0" rtlCol="0" anchor="t"/>
          <a:lstStyle/>
          <a:p>
            <a:pPr marL="0" indent="0">
              <a:lnSpc>
                <a:spcPct val="125000"/>
              </a:lnSpc>
              <a:buNone/>
            </a:pPr>
            <a:r>
              <a:rPr lang="en-US" sz="1200" dirty="0">
                <a:solidFill>
                  <a:srgbClr val="9A94B3"/>
                </a:solidFill>
                <a:latin typeface="Calibri" pitchFamily="34" charset="0"/>
                <a:ea typeface="Calibri" pitchFamily="34" charset="-122"/>
                <a:cs typeface="Calibri" pitchFamily="34" charset="-120"/>
              </a:rPr>
              <a:t>Flexbox, Grid, variables CSS, animations, transitions, responsive design via media queries.</a:t>
            </a:r>
            <a:endParaRPr lang="en-US" sz="1200" dirty="0"/>
          </a:p>
        </p:txBody>
      </p:sp>
      <p:sp>
        <p:nvSpPr>
          <p:cNvPr id="14" name="Shape 10"/>
          <p:cNvSpPr/>
          <p:nvPr/>
        </p:nvSpPr>
        <p:spPr>
          <a:xfrm>
            <a:off x="640080" y="4023360"/>
            <a:ext cx="5349240" cy="1920240"/>
          </a:xfrm>
          <a:prstGeom prst="roundRect">
            <a:avLst>
              <a:gd name="adj" fmla="val 4762"/>
            </a:avLst>
          </a:prstGeom>
          <a:solidFill>
            <a:srgbClr val="14101F"/>
          </a:solidFill>
          <a:ln w="12700">
            <a:solidFill>
              <a:srgbClr val="2A2440"/>
            </a:solidFill>
            <a:prstDash val="solid"/>
          </a:ln>
        </p:spPr>
      </p:sp>
      <p:sp>
        <p:nvSpPr>
          <p:cNvPr id="15" name="Shape 11"/>
          <p:cNvSpPr/>
          <p:nvPr/>
        </p:nvSpPr>
        <p:spPr>
          <a:xfrm>
            <a:off x="960120" y="4343400"/>
            <a:ext cx="640080" cy="640080"/>
          </a:xfrm>
          <a:prstGeom prst="ellipse">
            <a:avLst/>
          </a:prstGeom>
          <a:solidFill>
            <a:srgbClr val="8B5CF6">
              <a:alpha val="18000"/>
            </a:srgbClr>
          </a:solidFill>
          <a:ln/>
        </p:spPr>
      </p:sp>
      <p:pic>
        <p:nvPicPr>
          <p:cNvPr id="16" name="Image 2" descr="/home/claude/pptx_project/icons/layout_FFFFFF.png"/>
          <p:cNvPicPr>
            <a:picLocks noChangeAspect="1"/>
          </p:cNvPicPr>
          <p:nvPr/>
        </p:nvPicPr>
        <p:blipFill>
          <a:blip r:embed="rId5"/>
          <a:stretch>
            <a:fillRect/>
          </a:stretch>
        </p:blipFill>
        <p:spPr>
          <a:xfrm>
            <a:off x="1113739" y="4497019"/>
            <a:ext cx="332842" cy="332842"/>
          </a:xfrm>
          <a:prstGeom prst="rect">
            <a:avLst/>
          </a:prstGeom>
        </p:spPr>
      </p:pic>
      <p:sp>
        <p:nvSpPr>
          <p:cNvPr id="17" name="Text 12"/>
          <p:cNvSpPr/>
          <p:nvPr/>
        </p:nvSpPr>
        <p:spPr>
          <a:xfrm>
            <a:off x="1783080" y="4315968"/>
            <a:ext cx="3977640" cy="365760"/>
          </a:xfrm>
          <a:prstGeom prst="rect">
            <a:avLst/>
          </a:prstGeom>
          <a:noFill/>
          <a:ln/>
        </p:spPr>
        <p:txBody>
          <a:bodyPr wrap="square" lIns="0" tIns="0" rIns="0" bIns="0" rtlCol="0" anchor="ctr"/>
          <a:lstStyle/>
          <a:p>
            <a:pPr marL="0" indent="0">
              <a:buNone/>
            </a:pPr>
            <a:r>
              <a:rPr lang="en-US" sz="1600" b="1" dirty="0">
                <a:solidFill>
                  <a:srgbClr val="F5F3FA"/>
                </a:solidFill>
                <a:latin typeface="Calibri" pitchFamily="34" charset="0"/>
                <a:ea typeface="Calibri" pitchFamily="34" charset="-122"/>
                <a:cs typeface="Calibri" pitchFamily="34" charset="-120"/>
              </a:rPr>
              <a:t>JavaScript vanilla</a:t>
            </a:r>
            <a:endParaRPr lang="en-US" sz="1600" dirty="0"/>
          </a:p>
        </p:txBody>
      </p:sp>
      <p:sp>
        <p:nvSpPr>
          <p:cNvPr id="18" name="Text 13"/>
          <p:cNvSpPr/>
          <p:nvPr/>
        </p:nvSpPr>
        <p:spPr>
          <a:xfrm>
            <a:off x="1783080" y="4681728"/>
            <a:ext cx="3931920" cy="1097280"/>
          </a:xfrm>
          <a:prstGeom prst="rect">
            <a:avLst/>
          </a:prstGeom>
          <a:noFill/>
          <a:ln/>
        </p:spPr>
        <p:txBody>
          <a:bodyPr wrap="square" lIns="0" tIns="0" rIns="0" bIns="0" rtlCol="0" anchor="t"/>
          <a:lstStyle/>
          <a:p>
            <a:pPr marL="0" indent="0">
              <a:lnSpc>
                <a:spcPct val="125000"/>
              </a:lnSpc>
              <a:buNone/>
            </a:pPr>
            <a:r>
              <a:rPr lang="en-US" sz="1200" dirty="0">
                <a:solidFill>
                  <a:srgbClr val="9A94B3"/>
                </a:solidFill>
                <a:latin typeface="Calibri" pitchFamily="34" charset="0"/>
                <a:ea typeface="Calibri" pitchFamily="34" charset="-122"/>
                <a:cs typeface="Calibri" pitchFamily="34" charset="-120"/>
              </a:rPr>
              <a:t>Manipulation du DOM, IntersectionObserver, localStorage, validation de formulaire.</a:t>
            </a:r>
            <a:endParaRPr lang="en-US" sz="1200" dirty="0"/>
          </a:p>
        </p:txBody>
      </p:sp>
      <p:sp>
        <p:nvSpPr>
          <p:cNvPr id="19" name="Shape 14"/>
          <p:cNvSpPr/>
          <p:nvPr/>
        </p:nvSpPr>
        <p:spPr>
          <a:xfrm>
            <a:off x="6263640" y="4023360"/>
            <a:ext cx="5349240" cy="1920240"/>
          </a:xfrm>
          <a:prstGeom prst="roundRect">
            <a:avLst>
              <a:gd name="adj" fmla="val 4762"/>
            </a:avLst>
          </a:prstGeom>
          <a:solidFill>
            <a:srgbClr val="14101F"/>
          </a:solidFill>
          <a:ln w="12700">
            <a:solidFill>
              <a:srgbClr val="2A2440"/>
            </a:solidFill>
            <a:prstDash val="solid"/>
          </a:ln>
        </p:spPr>
      </p:sp>
      <p:sp>
        <p:nvSpPr>
          <p:cNvPr id="20" name="Shape 15"/>
          <p:cNvSpPr/>
          <p:nvPr/>
        </p:nvSpPr>
        <p:spPr>
          <a:xfrm>
            <a:off x="6583680" y="4343400"/>
            <a:ext cx="640080" cy="640080"/>
          </a:xfrm>
          <a:prstGeom prst="ellipse">
            <a:avLst/>
          </a:prstGeom>
          <a:solidFill>
            <a:srgbClr val="8B5CF6">
              <a:alpha val="18000"/>
            </a:srgbClr>
          </a:solidFill>
          <a:ln/>
        </p:spPr>
      </p:sp>
      <p:pic>
        <p:nvPicPr>
          <p:cNvPr id="21" name="Image 3" descr="/home/claude/pptx_project/icons/gitbranch_FFFFFF.png"/>
          <p:cNvPicPr>
            <a:picLocks noChangeAspect="1"/>
          </p:cNvPicPr>
          <p:nvPr/>
        </p:nvPicPr>
        <p:blipFill>
          <a:blip r:embed="rId6"/>
          <a:stretch>
            <a:fillRect/>
          </a:stretch>
        </p:blipFill>
        <p:spPr>
          <a:xfrm>
            <a:off x="6737299" y="4497019"/>
            <a:ext cx="332842" cy="332842"/>
          </a:xfrm>
          <a:prstGeom prst="rect">
            <a:avLst/>
          </a:prstGeom>
        </p:spPr>
      </p:pic>
      <p:sp>
        <p:nvSpPr>
          <p:cNvPr id="22" name="Text 16"/>
          <p:cNvSpPr/>
          <p:nvPr/>
        </p:nvSpPr>
        <p:spPr>
          <a:xfrm>
            <a:off x="7406640" y="4315968"/>
            <a:ext cx="3977640" cy="365760"/>
          </a:xfrm>
          <a:prstGeom prst="rect">
            <a:avLst/>
          </a:prstGeom>
          <a:noFill/>
          <a:ln/>
        </p:spPr>
        <p:txBody>
          <a:bodyPr wrap="square" lIns="0" tIns="0" rIns="0" bIns="0" rtlCol="0" anchor="ctr"/>
          <a:lstStyle/>
          <a:p>
            <a:pPr marL="0" indent="0">
              <a:buNone/>
            </a:pPr>
            <a:r>
              <a:rPr lang="en-US" sz="1600" b="1" dirty="0">
                <a:solidFill>
                  <a:srgbClr val="F5F3FA"/>
                </a:solidFill>
                <a:latin typeface="Calibri" pitchFamily="34" charset="0"/>
                <a:ea typeface="Calibri" pitchFamily="34" charset="-122"/>
                <a:cs typeface="Calibri" pitchFamily="34" charset="-120"/>
              </a:rPr>
              <a:t>Git &amp; GitHub</a:t>
            </a:r>
            <a:endParaRPr lang="en-US" sz="1600" dirty="0"/>
          </a:p>
        </p:txBody>
      </p:sp>
      <p:sp>
        <p:nvSpPr>
          <p:cNvPr id="23" name="Text 17"/>
          <p:cNvSpPr/>
          <p:nvPr/>
        </p:nvSpPr>
        <p:spPr>
          <a:xfrm>
            <a:off x="7406640" y="4681728"/>
            <a:ext cx="3931920" cy="1097280"/>
          </a:xfrm>
          <a:prstGeom prst="rect">
            <a:avLst/>
          </a:prstGeom>
          <a:noFill/>
          <a:ln/>
        </p:spPr>
        <p:txBody>
          <a:bodyPr wrap="square" lIns="0" tIns="0" rIns="0" bIns="0" rtlCol="0" anchor="t"/>
          <a:lstStyle/>
          <a:p>
            <a:pPr marL="0" indent="0">
              <a:lnSpc>
                <a:spcPct val="125000"/>
              </a:lnSpc>
              <a:buNone/>
            </a:pPr>
            <a:r>
              <a:rPr lang="en-US" sz="1200" dirty="0">
                <a:solidFill>
                  <a:srgbClr val="9A94B3"/>
                </a:solidFill>
                <a:latin typeface="Calibri" pitchFamily="34" charset="0"/>
                <a:ea typeface="Calibri" pitchFamily="34" charset="-122"/>
                <a:cs typeface="Calibri" pitchFamily="34" charset="-120"/>
              </a:rPr>
              <a:t>Versioning avec commits réguliers et descriptifs, déploiement via GitHub Pages.</a:t>
            </a:r>
            <a:endParaRPr lang="en-US" sz="1200" dirty="0"/>
          </a:p>
        </p:txBody>
      </p:sp>
      <p:sp>
        <p:nvSpPr>
          <p:cNvPr id="24" name="Text 18"/>
          <p:cNvSpPr/>
          <p:nvPr/>
        </p:nvSpPr>
        <p:spPr>
          <a:xfrm>
            <a:off x="457200" y="6537960"/>
            <a:ext cx="5486400" cy="274320"/>
          </a:xfrm>
          <a:prstGeom prst="rect">
            <a:avLst/>
          </a:prstGeom>
          <a:noFill/>
          <a:ln/>
        </p:spPr>
        <p:txBody>
          <a:bodyPr wrap="square" lIns="0" tIns="0" rIns="0" bIns="0" rtlCol="0" anchor="ctr"/>
          <a:lstStyle/>
          <a:p>
            <a:pPr marL="0" indent="0">
              <a:buNone/>
            </a:pPr>
            <a:r>
              <a:rPr lang="en-US" sz="1000" dirty="0">
                <a:solidFill>
                  <a:srgbClr val="9A94B3"/>
                </a:solidFill>
                <a:latin typeface="Calibri" pitchFamily="34" charset="0"/>
                <a:ea typeface="Calibri" pitchFamily="34" charset="-122"/>
                <a:cs typeface="Calibri" pitchFamily="34" charset="-120"/>
              </a:rPr>
              <a:t>AfriConnect Summit 2026 — Projet Web L1</a:t>
            </a:r>
            <a:endParaRPr lang="en-US" sz="1000" dirty="0"/>
          </a:p>
        </p:txBody>
      </p:sp>
      <p:sp>
        <p:nvSpPr>
          <p:cNvPr id="25" name="Text 19"/>
          <p:cNvSpPr/>
          <p:nvPr/>
        </p:nvSpPr>
        <p:spPr>
          <a:xfrm>
            <a:off x="11338560" y="6537960"/>
            <a:ext cx="457200" cy="274320"/>
          </a:xfrm>
          <a:prstGeom prst="rect">
            <a:avLst/>
          </a:prstGeom>
          <a:noFill/>
          <a:ln/>
        </p:spPr>
        <p:txBody>
          <a:bodyPr wrap="square" lIns="0" tIns="0" rIns="0" bIns="0" rtlCol="0" anchor="ctr"/>
          <a:lstStyle/>
          <a:p>
            <a:pPr marL="0" indent="0" algn="r">
              <a:buNone/>
            </a:pPr>
            <a:r>
              <a:rPr lang="en-US" sz="1000" dirty="0">
                <a:solidFill>
                  <a:srgbClr val="9A94B3"/>
                </a:solidFill>
                <a:latin typeface="Calibri" pitchFamily="34" charset="0"/>
                <a:ea typeface="Calibri" pitchFamily="34" charset="-122"/>
                <a:cs typeface="Calibri" pitchFamily="34" charset="-120"/>
              </a:rPr>
              <a:t>3</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714"/>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buNone/>
            </a:pPr>
            <a:r>
              <a:rPr lang="en-US" sz="1200" b="1" kern="0" spc="200" dirty="0">
                <a:solidFill>
                  <a:srgbClr val="A78BFA"/>
                </a:solidFill>
                <a:latin typeface="Calibri" pitchFamily="34" charset="0"/>
                <a:ea typeface="Calibri" pitchFamily="34" charset="-122"/>
                <a:cs typeface="Calibri" pitchFamily="34" charset="-120"/>
              </a:rPr>
              <a:t>DIRECTION ARTISTIQUE</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marL="0" indent="0">
              <a:buNone/>
            </a:pPr>
            <a:r>
              <a:rPr lang="en-US" sz="2600" b="1" dirty="0">
                <a:solidFill>
                  <a:srgbClr val="F5F3FA"/>
                </a:solidFill>
                <a:latin typeface="Calibri" pitchFamily="34" charset="0"/>
                <a:ea typeface="Calibri" pitchFamily="34" charset="-122"/>
                <a:cs typeface="Calibri" pitchFamily="34" charset="-120"/>
              </a:rPr>
              <a:t>Une identité violet &amp; noir, esprit conférence tech</a:t>
            </a:r>
            <a:endParaRPr lang="en-US" sz="2600" dirty="0"/>
          </a:p>
        </p:txBody>
      </p:sp>
      <p:sp>
        <p:nvSpPr>
          <p:cNvPr id="4" name="Text 2"/>
          <p:cNvSpPr/>
          <p:nvPr/>
        </p:nvSpPr>
        <p:spPr>
          <a:xfrm>
            <a:off x="640080" y="1600200"/>
            <a:ext cx="6035040" cy="1188720"/>
          </a:xfrm>
          <a:prstGeom prst="rect">
            <a:avLst/>
          </a:prstGeom>
          <a:noFill/>
          <a:ln/>
        </p:spPr>
        <p:txBody>
          <a:bodyPr wrap="square" lIns="0" tIns="0" rIns="0" bIns="0" rtlCol="0" anchor="t"/>
          <a:lstStyle/>
          <a:p>
            <a:pPr marL="0" indent="0">
              <a:lnSpc>
                <a:spcPct val="130000"/>
              </a:lnSpc>
              <a:buNone/>
            </a:pPr>
            <a:r>
              <a:rPr lang="en-US" sz="1400" dirty="0">
                <a:solidFill>
                  <a:srgbClr val="9A94B3"/>
                </a:solidFill>
                <a:latin typeface="Calibri" pitchFamily="34" charset="0"/>
                <a:ea typeface="Calibri" pitchFamily="34" charset="-122"/>
                <a:cs typeface="Calibri" pitchFamily="34" charset="-120"/>
              </a:rPr>
              <a:t>Le site s'inspire des grandes conférences tech internationales (Web Summit, Awwwards Conference, Config). Palette sombre premium, dégradés violets, vidéo en fond de hero, et typographie expressive pour un rendu professionnel et actuel.</a:t>
            </a:r>
            <a:endParaRPr lang="en-US" sz="1400" dirty="0"/>
          </a:p>
        </p:txBody>
      </p:sp>
      <p:sp>
        <p:nvSpPr>
          <p:cNvPr id="5" name="Text 3"/>
          <p:cNvSpPr/>
          <p:nvPr/>
        </p:nvSpPr>
        <p:spPr>
          <a:xfrm>
            <a:off x="640080" y="2926080"/>
            <a:ext cx="6035040" cy="548640"/>
          </a:xfrm>
          <a:prstGeom prst="rect">
            <a:avLst/>
          </a:prstGeom>
          <a:noFill/>
          <a:ln/>
        </p:spPr>
        <p:txBody>
          <a:bodyPr wrap="square" lIns="0" tIns="0" rIns="0" bIns="0" rtlCol="0" anchor="ctr"/>
          <a:lstStyle/>
          <a:p>
            <a:pPr marL="0" indent="0">
              <a:buNone/>
            </a:pPr>
            <a:r>
              <a:rPr lang="en-US" sz="2600" b="1" dirty="0">
                <a:solidFill>
                  <a:srgbClr val="F5F3FA"/>
                </a:solidFill>
                <a:latin typeface="Calibri" pitchFamily="34" charset="0"/>
                <a:ea typeface="Calibri" pitchFamily="34" charset="-122"/>
                <a:cs typeface="Calibri" pitchFamily="34" charset="-120"/>
              </a:rPr>
              <a:t>Space Grotesk</a:t>
            </a:r>
            <a:endParaRPr lang="en-US" sz="2600" dirty="0"/>
          </a:p>
        </p:txBody>
      </p:sp>
      <p:sp>
        <p:nvSpPr>
          <p:cNvPr id="6" name="Text 4"/>
          <p:cNvSpPr/>
          <p:nvPr/>
        </p:nvSpPr>
        <p:spPr>
          <a:xfrm>
            <a:off x="640080" y="3429000"/>
            <a:ext cx="6035040" cy="320040"/>
          </a:xfrm>
          <a:prstGeom prst="rect">
            <a:avLst/>
          </a:prstGeom>
          <a:noFill/>
          <a:ln/>
        </p:spPr>
        <p:txBody>
          <a:bodyPr wrap="square" lIns="0" tIns="0" rIns="0" bIns="0" rtlCol="0" anchor="ctr"/>
          <a:lstStyle/>
          <a:p>
            <a:pPr marL="0" indent="0">
              <a:buNone/>
            </a:pPr>
            <a:r>
              <a:rPr lang="en-US" sz="1200" dirty="0">
                <a:solidFill>
                  <a:srgbClr val="9A94B3"/>
                </a:solidFill>
                <a:latin typeface="Calibri" pitchFamily="34" charset="0"/>
                <a:ea typeface="Calibri" pitchFamily="34" charset="-122"/>
                <a:cs typeface="Calibri" pitchFamily="34" charset="-120"/>
              </a:rPr>
              <a:t>Titres — expressif, géométrique</a:t>
            </a:r>
            <a:endParaRPr lang="en-US" sz="1200" dirty="0"/>
          </a:p>
        </p:txBody>
      </p:sp>
      <p:sp>
        <p:nvSpPr>
          <p:cNvPr id="7" name="Text 5"/>
          <p:cNvSpPr/>
          <p:nvPr/>
        </p:nvSpPr>
        <p:spPr>
          <a:xfrm>
            <a:off x="640080" y="3886200"/>
            <a:ext cx="6035040" cy="502920"/>
          </a:xfrm>
          <a:prstGeom prst="rect">
            <a:avLst/>
          </a:prstGeom>
          <a:noFill/>
          <a:ln/>
        </p:spPr>
        <p:txBody>
          <a:bodyPr wrap="square" lIns="0" tIns="0" rIns="0" bIns="0" rtlCol="0" anchor="ctr"/>
          <a:lstStyle/>
          <a:p>
            <a:pPr marL="0" indent="0">
              <a:buNone/>
            </a:pPr>
            <a:r>
              <a:rPr lang="en-US" sz="2200" dirty="0">
                <a:solidFill>
                  <a:srgbClr val="F5F3FA"/>
                </a:solidFill>
                <a:latin typeface="Calibri" pitchFamily="34" charset="0"/>
                <a:ea typeface="Calibri" pitchFamily="34" charset="-122"/>
                <a:cs typeface="Calibri" pitchFamily="34" charset="-120"/>
              </a:rPr>
              <a:t>Inter</a:t>
            </a:r>
            <a:endParaRPr lang="en-US" sz="2200" dirty="0"/>
          </a:p>
        </p:txBody>
      </p:sp>
      <p:sp>
        <p:nvSpPr>
          <p:cNvPr id="8" name="Text 6"/>
          <p:cNvSpPr/>
          <p:nvPr/>
        </p:nvSpPr>
        <p:spPr>
          <a:xfrm>
            <a:off x="640080" y="4343400"/>
            <a:ext cx="6035040" cy="320040"/>
          </a:xfrm>
          <a:prstGeom prst="rect">
            <a:avLst/>
          </a:prstGeom>
          <a:noFill/>
          <a:ln/>
        </p:spPr>
        <p:txBody>
          <a:bodyPr wrap="square" lIns="0" tIns="0" rIns="0" bIns="0" rtlCol="0" anchor="ctr"/>
          <a:lstStyle/>
          <a:p>
            <a:pPr marL="0" indent="0">
              <a:buNone/>
            </a:pPr>
            <a:r>
              <a:rPr lang="en-US" sz="1200" dirty="0">
                <a:solidFill>
                  <a:srgbClr val="9A94B3"/>
                </a:solidFill>
                <a:latin typeface="Calibri" pitchFamily="34" charset="0"/>
                <a:ea typeface="Calibri" pitchFamily="34" charset="-122"/>
                <a:cs typeface="Calibri" pitchFamily="34" charset="-120"/>
              </a:rPr>
              <a:t>Texte courant — lisible, neutre</a:t>
            </a:r>
            <a:endParaRPr lang="en-US" sz="1200" dirty="0"/>
          </a:p>
        </p:txBody>
      </p:sp>
      <p:sp>
        <p:nvSpPr>
          <p:cNvPr id="9" name="Shape 7"/>
          <p:cNvSpPr/>
          <p:nvPr/>
        </p:nvSpPr>
        <p:spPr>
          <a:xfrm>
            <a:off x="7040880" y="1737360"/>
            <a:ext cx="914400" cy="3291840"/>
          </a:xfrm>
          <a:prstGeom prst="roundRect">
            <a:avLst>
              <a:gd name="adj" fmla="val 8000"/>
            </a:avLst>
          </a:prstGeom>
          <a:solidFill>
            <a:srgbClr val="0A0714"/>
          </a:solidFill>
          <a:ln w="12700">
            <a:solidFill>
              <a:srgbClr val="2A2440"/>
            </a:solidFill>
            <a:prstDash val="solid"/>
          </a:ln>
        </p:spPr>
      </p:sp>
      <p:sp>
        <p:nvSpPr>
          <p:cNvPr id="10" name="Text 8"/>
          <p:cNvSpPr/>
          <p:nvPr/>
        </p:nvSpPr>
        <p:spPr>
          <a:xfrm>
            <a:off x="6903720" y="5074920"/>
            <a:ext cx="1188720" cy="274320"/>
          </a:xfrm>
          <a:prstGeom prst="rect">
            <a:avLst/>
          </a:prstGeom>
          <a:noFill/>
          <a:ln/>
        </p:spPr>
        <p:txBody>
          <a:bodyPr wrap="square" lIns="0" tIns="0" rIns="0" bIns="0" rtlCol="0" anchor="ctr"/>
          <a:lstStyle/>
          <a:p>
            <a:pPr marL="0" indent="0" algn="ctr">
              <a:buNone/>
            </a:pPr>
            <a:r>
              <a:rPr lang="en-US" sz="900" dirty="0">
                <a:solidFill>
                  <a:srgbClr val="9A94B3"/>
                </a:solidFill>
                <a:latin typeface="Calibri" pitchFamily="34" charset="0"/>
                <a:ea typeface="Calibri" pitchFamily="34" charset="-122"/>
                <a:cs typeface="Calibri" pitchFamily="34" charset="-120"/>
              </a:rPr>
              <a:t>#0A0714</a:t>
            </a:r>
            <a:endParaRPr lang="en-US" sz="900" dirty="0"/>
          </a:p>
        </p:txBody>
      </p:sp>
      <p:sp>
        <p:nvSpPr>
          <p:cNvPr id="11" name="Text 9"/>
          <p:cNvSpPr/>
          <p:nvPr/>
        </p:nvSpPr>
        <p:spPr>
          <a:xfrm>
            <a:off x="6903720" y="5321808"/>
            <a:ext cx="1188720" cy="274320"/>
          </a:xfrm>
          <a:prstGeom prst="rect">
            <a:avLst/>
          </a:prstGeom>
          <a:noFill/>
          <a:ln/>
        </p:spPr>
        <p:txBody>
          <a:bodyPr wrap="square" lIns="0" tIns="0" rIns="0" bIns="0" rtlCol="0" anchor="ctr"/>
          <a:lstStyle/>
          <a:p>
            <a:pPr marL="0" indent="0" algn="ctr">
              <a:buNone/>
            </a:pPr>
            <a:r>
              <a:rPr lang="en-US" sz="1000" b="1" dirty="0">
                <a:solidFill>
                  <a:srgbClr val="F5F3FA"/>
                </a:solidFill>
                <a:latin typeface="Calibri" pitchFamily="34" charset="0"/>
                <a:ea typeface="Calibri" pitchFamily="34" charset="-122"/>
                <a:cs typeface="Calibri" pitchFamily="34" charset="-120"/>
              </a:rPr>
              <a:t>Fond</a:t>
            </a:r>
            <a:endParaRPr lang="en-US" sz="1000" dirty="0"/>
          </a:p>
        </p:txBody>
      </p:sp>
      <p:sp>
        <p:nvSpPr>
          <p:cNvPr id="12" name="Shape 10"/>
          <p:cNvSpPr/>
          <p:nvPr/>
        </p:nvSpPr>
        <p:spPr>
          <a:xfrm>
            <a:off x="8092440" y="1737360"/>
            <a:ext cx="914400" cy="3291840"/>
          </a:xfrm>
          <a:prstGeom prst="roundRect">
            <a:avLst>
              <a:gd name="adj" fmla="val 8000"/>
            </a:avLst>
          </a:prstGeom>
          <a:solidFill>
            <a:srgbClr val="14101F"/>
          </a:solidFill>
          <a:ln w="12700">
            <a:solidFill>
              <a:srgbClr val="2A2440"/>
            </a:solidFill>
            <a:prstDash val="solid"/>
          </a:ln>
        </p:spPr>
      </p:sp>
      <p:sp>
        <p:nvSpPr>
          <p:cNvPr id="13" name="Text 11"/>
          <p:cNvSpPr/>
          <p:nvPr/>
        </p:nvSpPr>
        <p:spPr>
          <a:xfrm>
            <a:off x="7955280" y="5074920"/>
            <a:ext cx="1188720" cy="274320"/>
          </a:xfrm>
          <a:prstGeom prst="rect">
            <a:avLst/>
          </a:prstGeom>
          <a:noFill/>
          <a:ln/>
        </p:spPr>
        <p:txBody>
          <a:bodyPr wrap="square" lIns="0" tIns="0" rIns="0" bIns="0" rtlCol="0" anchor="ctr"/>
          <a:lstStyle/>
          <a:p>
            <a:pPr marL="0" indent="0" algn="ctr">
              <a:buNone/>
            </a:pPr>
            <a:r>
              <a:rPr lang="en-US" sz="900" dirty="0">
                <a:solidFill>
                  <a:srgbClr val="9A94B3"/>
                </a:solidFill>
                <a:latin typeface="Calibri" pitchFamily="34" charset="0"/>
                <a:ea typeface="Calibri" pitchFamily="34" charset="-122"/>
                <a:cs typeface="Calibri" pitchFamily="34" charset="-120"/>
              </a:rPr>
              <a:t>#14101F</a:t>
            </a:r>
            <a:endParaRPr lang="en-US" sz="900" dirty="0"/>
          </a:p>
        </p:txBody>
      </p:sp>
      <p:sp>
        <p:nvSpPr>
          <p:cNvPr id="14" name="Text 12"/>
          <p:cNvSpPr/>
          <p:nvPr/>
        </p:nvSpPr>
        <p:spPr>
          <a:xfrm>
            <a:off x="7955280" y="5321808"/>
            <a:ext cx="1188720" cy="274320"/>
          </a:xfrm>
          <a:prstGeom prst="rect">
            <a:avLst/>
          </a:prstGeom>
          <a:noFill/>
          <a:ln/>
        </p:spPr>
        <p:txBody>
          <a:bodyPr wrap="square" lIns="0" tIns="0" rIns="0" bIns="0" rtlCol="0" anchor="ctr"/>
          <a:lstStyle/>
          <a:p>
            <a:pPr marL="0" indent="0" algn="ctr">
              <a:buNone/>
            </a:pPr>
            <a:r>
              <a:rPr lang="en-US" sz="1000" b="1" dirty="0">
                <a:solidFill>
                  <a:srgbClr val="F5F3FA"/>
                </a:solidFill>
                <a:latin typeface="Calibri" pitchFamily="34" charset="0"/>
                <a:ea typeface="Calibri" pitchFamily="34" charset="-122"/>
                <a:cs typeface="Calibri" pitchFamily="34" charset="-120"/>
              </a:rPr>
              <a:t>Surface</a:t>
            </a:r>
            <a:endParaRPr lang="en-US" sz="1000" dirty="0"/>
          </a:p>
        </p:txBody>
      </p:sp>
      <p:sp>
        <p:nvSpPr>
          <p:cNvPr id="15" name="Shape 13"/>
          <p:cNvSpPr/>
          <p:nvPr/>
        </p:nvSpPr>
        <p:spPr>
          <a:xfrm>
            <a:off x="9144000" y="1737360"/>
            <a:ext cx="914400" cy="3291840"/>
          </a:xfrm>
          <a:prstGeom prst="roundRect">
            <a:avLst>
              <a:gd name="adj" fmla="val 8000"/>
            </a:avLst>
          </a:prstGeom>
          <a:solidFill>
            <a:srgbClr val="8B5CF6"/>
          </a:solidFill>
          <a:ln w="12700">
            <a:solidFill>
              <a:srgbClr val="2A2440"/>
            </a:solidFill>
            <a:prstDash val="solid"/>
          </a:ln>
        </p:spPr>
      </p:sp>
      <p:sp>
        <p:nvSpPr>
          <p:cNvPr id="16" name="Text 14"/>
          <p:cNvSpPr/>
          <p:nvPr/>
        </p:nvSpPr>
        <p:spPr>
          <a:xfrm>
            <a:off x="9006840" y="5074920"/>
            <a:ext cx="1188720" cy="274320"/>
          </a:xfrm>
          <a:prstGeom prst="rect">
            <a:avLst/>
          </a:prstGeom>
          <a:noFill/>
          <a:ln/>
        </p:spPr>
        <p:txBody>
          <a:bodyPr wrap="square" lIns="0" tIns="0" rIns="0" bIns="0" rtlCol="0" anchor="ctr"/>
          <a:lstStyle/>
          <a:p>
            <a:pPr marL="0" indent="0" algn="ctr">
              <a:buNone/>
            </a:pPr>
            <a:r>
              <a:rPr lang="en-US" sz="900" dirty="0">
                <a:solidFill>
                  <a:srgbClr val="9A94B3"/>
                </a:solidFill>
                <a:latin typeface="Calibri" pitchFamily="34" charset="0"/>
                <a:ea typeface="Calibri" pitchFamily="34" charset="-122"/>
                <a:cs typeface="Calibri" pitchFamily="34" charset="-120"/>
              </a:rPr>
              <a:t>#8B5CF6</a:t>
            </a:r>
            <a:endParaRPr lang="en-US" sz="900" dirty="0"/>
          </a:p>
        </p:txBody>
      </p:sp>
      <p:sp>
        <p:nvSpPr>
          <p:cNvPr id="17" name="Text 15"/>
          <p:cNvSpPr/>
          <p:nvPr/>
        </p:nvSpPr>
        <p:spPr>
          <a:xfrm>
            <a:off x="9006840" y="5321808"/>
            <a:ext cx="1188720" cy="274320"/>
          </a:xfrm>
          <a:prstGeom prst="rect">
            <a:avLst/>
          </a:prstGeom>
          <a:noFill/>
          <a:ln/>
        </p:spPr>
        <p:txBody>
          <a:bodyPr wrap="square" lIns="0" tIns="0" rIns="0" bIns="0" rtlCol="0" anchor="ctr"/>
          <a:lstStyle/>
          <a:p>
            <a:pPr marL="0" indent="0" algn="ctr">
              <a:buNone/>
            </a:pPr>
            <a:r>
              <a:rPr lang="en-US" sz="1000" b="1" dirty="0">
                <a:solidFill>
                  <a:srgbClr val="F5F3FA"/>
                </a:solidFill>
                <a:latin typeface="Calibri" pitchFamily="34" charset="0"/>
                <a:ea typeface="Calibri" pitchFamily="34" charset="-122"/>
                <a:cs typeface="Calibri" pitchFamily="34" charset="-120"/>
              </a:rPr>
              <a:t>Primaire</a:t>
            </a:r>
            <a:endParaRPr lang="en-US" sz="1000" dirty="0"/>
          </a:p>
        </p:txBody>
      </p:sp>
      <p:sp>
        <p:nvSpPr>
          <p:cNvPr id="18" name="Shape 16"/>
          <p:cNvSpPr/>
          <p:nvPr/>
        </p:nvSpPr>
        <p:spPr>
          <a:xfrm>
            <a:off x="10195560" y="1737360"/>
            <a:ext cx="914400" cy="3291840"/>
          </a:xfrm>
          <a:prstGeom prst="roundRect">
            <a:avLst>
              <a:gd name="adj" fmla="val 8000"/>
            </a:avLst>
          </a:prstGeom>
          <a:solidFill>
            <a:srgbClr val="6D28D9"/>
          </a:solidFill>
          <a:ln w="12700">
            <a:solidFill>
              <a:srgbClr val="2A2440"/>
            </a:solidFill>
            <a:prstDash val="solid"/>
          </a:ln>
        </p:spPr>
      </p:sp>
      <p:sp>
        <p:nvSpPr>
          <p:cNvPr id="19" name="Text 17"/>
          <p:cNvSpPr/>
          <p:nvPr/>
        </p:nvSpPr>
        <p:spPr>
          <a:xfrm>
            <a:off x="10058400" y="5074920"/>
            <a:ext cx="1188720" cy="274320"/>
          </a:xfrm>
          <a:prstGeom prst="rect">
            <a:avLst/>
          </a:prstGeom>
          <a:noFill/>
          <a:ln/>
        </p:spPr>
        <p:txBody>
          <a:bodyPr wrap="square" lIns="0" tIns="0" rIns="0" bIns="0" rtlCol="0" anchor="ctr"/>
          <a:lstStyle/>
          <a:p>
            <a:pPr marL="0" indent="0" algn="ctr">
              <a:buNone/>
            </a:pPr>
            <a:r>
              <a:rPr lang="en-US" sz="900" dirty="0">
                <a:solidFill>
                  <a:srgbClr val="9A94B3"/>
                </a:solidFill>
                <a:latin typeface="Calibri" pitchFamily="34" charset="0"/>
                <a:ea typeface="Calibri" pitchFamily="34" charset="-122"/>
                <a:cs typeface="Calibri" pitchFamily="34" charset="-120"/>
              </a:rPr>
              <a:t>#6D28D9</a:t>
            </a:r>
            <a:endParaRPr lang="en-US" sz="900" dirty="0"/>
          </a:p>
        </p:txBody>
      </p:sp>
      <p:sp>
        <p:nvSpPr>
          <p:cNvPr id="20" name="Text 18"/>
          <p:cNvSpPr/>
          <p:nvPr/>
        </p:nvSpPr>
        <p:spPr>
          <a:xfrm>
            <a:off x="10058400" y="5321808"/>
            <a:ext cx="1188720" cy="274320"/>
          </a:xfrm>
          <a:prstGeom prst="rect">
            <a:avLst/>
          </a:prstGeom>
          <a:noFill/>
          <a:ln/>
        </p:spPr>
        <p:txBody>
          <a:bodyPr wrap="square" lIns="0" tIns="0" rIns="0" bIns="0" rtlCol="0" anchor="ctr"/>
          <a:lstStyle/>
          <a:p>
            <a:pPr marL="0" indent="0" algn="ctr">
              <a:buNone/>
            </a:pPr>
            <a:r>
              <a:rPr lang="en-US" sz="1000" b="1" dirty="0">
                <a:solidFill>
                  <a:srgbClr val="F5F3FA"/>
                </a:solidFill>
                <a:latin typeface="Calibri" pitchFamily="34" charset="0"/>
                <a:ea typeface="Calibri" pitchFamily="34" charset="-122"/>
                <a:cs typeface="Calibri" pitchFamily="34" charset="-120"/>
              </a:rPr>
              <a:t>Accent</a:t>
            </a:r>
            <a:endParaRPr lang="en-US" sz="1000" dirty="0"/>
          </a:p>
        </p:txBody>
      </p:sp>
      <p:sp>
        <p:nvSpPr>
          <p:cNvPr id="21" name="Shape 19"/>
          <p:cNvSpPr/>
          <p:nvPr/>
        </p:nvSpPr>
        <p:spPr>
          <a:xfrm>
            <a:off x="11247120" y="1737360"/>
            <a:ext cx="914400" cy="3291840"/>
          </a:xfrm>
          <a:prstGeom prst="roundRect">
            <a:avLst>
              <a:gd name="adj" fmla="val 8000"/>
            </a:avLst>
          </a:prstGeom>
          <a:solidFill>
            <a:srgbClr val="A78BFA"/>
          </a:solidFill>
          <a:ln w="12700">
            <a:solidFill>
              <a:srgbClr val="2A2440"/>
            </a:solidFill>
            <a:prstDash val="solid"/>
          </a:ln>
        </p:spPr>
      </p:sp>
      <p:sp>
        <p:nvSpPr>
          <p:cNvPr id="22" name="Text 20"/>
          <p:cNvSpPr/>
          <p:nvPr/>
        </p:nvSpPr>
        <p:spPr>
          <a:xfrm>
            <a:off x="11109960" y="5074920"/>
            <a:ext cx="1188720" cy="274320"/>
          </a:xfrm>
          <a:prstGeom prst="rect">
            <a:avLst/>
          </a:prstGeom>
          <a:noFill/>
          <a:ln/>
        </p:spPr>
        <p:txBody>
          <a:bodyPr wrap="square" lIns="0" tIns="0" rIns="0" bIns="0" rtlCol="0" anchor="ctr"/>
          <a:lstStyle/>
          <a:p>
            <a:pPr marL="0" indent="0" algn="ctr">
              <a:buNone/>
            </a:pPr>
            <a:r>
              <a:rPr lang="en-US" sz="900" dirty="0">
                <a:solidFill>
                  <a:srgbClr val="9A94B3"/>
                </a:solidFill>
                <a:latin typeface="Calibri" pitchFamily="34" charset="0"/>
                <a:ea typeface="Calibri" pitchFamily="34" charset="-122"/>
                <a:cs typeface="Calibri" pitchFamily="34" charset="-120"/>
              </a:rPr>
              <a:t>#A78BFA</a:t>
            </a:r>
            <a:endParaRPr lang="en-US" sz="900" dirty="0"/>
          </a:p>
        </p:txBody>
      </p:sp>
      <p:sp>
        <p:nvSpPr>
          <p:cNvPr id="23" name="Text 21"/>
          <p:cNvSpPr/>
          <p:nvPr/>
        </p:nvSpPr>
        <p:spPr>
          <a:xfrm>
            <a:off x="11109960" y="5321808"/>
            <a:ext cx="1188720" cy="274320"/>
          </a:xfrm>
          <a:prstGeom prst="rect">
            <a:avLst/>
          </a:prstGeom>
          <a:noFill/>
          <a:ln/>
        </p:spPr>
        <p:txBody>
          <a:bodyPr wrap="square" lIns="0" tIns="0" rIns="0" bIns="0" rtlCol="0" anchor="ctr"/>
          <a:lstStyle/>
          <a:p>
            <a:pPr marL="0" indent="0" algn="ctr">
              <a:buNone/>
            </a:pPr>
            <a:r>
              <a:rPr lang="en-US" sz="1000" b="1" dirty="0">
                <a:solidFill>
                  <a:srgbClr val="F5F3FA"/>
                </a:solidFill>
                <a:latin typeface="Calibri" pitchFamily="34" charset="0"/>
                <a:ea typeface="Calibri" pitchFamily="34" charset="-122"/>
                <a:cs typeface="Calibri" pitchFamily="34" charset="-120"/>
              </a:rPr>
              <a:t>Clair</a:t>
            </a:r>
            <a:endParaRPr lang="en-US" sz="1000" dirty="0"/>
          </a:p>
        </p:txBody>
      </p:sp>
      <p:sp>
        <p:nvSpPr>
          <p:cNvPr id="24" name="Text 22"/>
          <p:cNvSpPr/>
          <p:nvPr/>
        </p:nvSpPr>
        <p:spPr>
          <a:xfrm>
            <a:off x="457200" y="6537960"/>
            <a:ext cx="5486400" cy="274320"/>
          </a:xfrm>
          <a:prstGeom prst="rect">
            <a:avLst/>
          </a:prstGeom>
          <a:noFill/>
          <a:ln/>
        </p:spPr>
        <p:txBody>
          <a:bodyPr wrap="square" lIns="0" tIns="0" rIns="0" bIns="0" rtlCol="0" anchor="ctr"/>
          <a:lstStyle/>
          <a:p>
            <a:pPr marL="0" indent="0">
              <a:buNone/>
            </a:pPr>
            <a:r>
              <a:rPr lang="en-US" sz="1000" dirty="0">
                <a:solidFill>
                  <a:srgbClr val="9A94B3"/>
                </a:solidFill>
                <a:latin typeface="Calibri" pitchFamily="34" charset="0"/>
                <a:ea typeface="Calibri" pitchFamily="34" charset="-122"/>
                <a:cs typeface="Calibri" pitchFamily="34" charset="-120"/>
              </a:rPr>
              <a:t>AfriConnect Summit 2026 — Projet Web L1</a:t>
            </a:r>
            <a:endParaRPr lang="en-US" sz="1000" dirty="0"/>
          </a:p>
        </p:txBody>
      </p:sp>
      <p:sp>
        <p:nvSpPr>
          <p:cNvPr id="25" name="Text 23"/>
          <p:cNvSpPr/>
          <p:nvPr/>
        </p:nvSpPr>
        <p:spPr>
          <a:xfrm>
            <a:off x="11338560" y="6537960"/>
            <a:ext cx="457200" cy="274320"/>
          </a:xfrm>
          <a:prstGeom prst="rect">
            <a:avLst/>
          </a:prstGeom>
          <a:noFill/>
          <a:ln/>
        </p:spPr>
        <p:txBody>
          <a:bodyPr wrap="square" lIns="0" tIns="0" rIns="0" bIns="0" rtlCol="0" anchor="ctr"/>
          <a:lstStyle/>
          <a:p>
            <a:pPr marL="0" indent="0" algn="r">
              <a:buNone/>
            </a:pPr>
            <a:r>
              <a:rPr lang="en-US" sz="1000" dirty="0">
                <a:solidFill>
                  <a:srgbClr val="9A94B3"/>
                </a:solidFill>
                <a:latin typeface="Calibri" pitchFamily="34" charset="0"/>
                <a:ea typeface="Calibri" pitchFamily="34" charset="-122"/>
                <a:cs typeface="Calibri" pitchFamily="34" charset="-120"/>
              </a:rPr>
              <a:t>4</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714"/>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buNone/>
            </a:pPr>
            <a:r>
              <a:rPr lang="en-US" sz="1200" b="1" kern="0" spc="200" dirty="0">
                <a:solidFill>
                  <a:srgbClr val="A78BFA"/>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marL="0" indent="0">
              <a:buNone/>
            </a:pPr>
            <a:r>
              <a:rPr lang="en-US" sz="2600" b="1" dirty="0">
                <a:solidFill>
                  <a:srgbClr val="F5F3FA"/>
                </a:solidFill>
                <a:latin typeface="Calibri" pitchFamily="34" charset="0"/>
                <a:ea typeface="Calibri" pitchFamily="34" charset="-122"/>
                <a:cs typeface="Calibri" pitchFamily="34" charset="-120"/>
              </a:rPr>
              <a:t>Quatre pages, une navigation cohérente</a:t>
            </a:r>
            <a:endParaRPr lang="en-US" sz="2600" dirty="0"/>
          </a:p>
        </p:txBody>
      </p:sp>
      <p:sp>
        <p:nvSpPr>
          <p:cNvPr id="4" name="Shape 2"/>
          <p:cNvSpPr/>
          <p:nvPr/>
        </p:nvSpPr>
        <p:spPr>
          <a:xfrm>
            <a:off x="640080" y="1828800"/>
            <a:ext cx="5349240" cy="1920240"/>
          </a:xfrm>
          <a:prstGeom prst="roundRect">
            <a:avLst>
              <a:gd name="adj" fmla="val 4762"/>
            </a:avLst>
          </a:prstGeom>
          <a:solidFill>
            <a:srgbClr val="14101F"/>
          </a:solidFill>
          <a:ln w="12700">
            <a:solidFill>
              <a:srgbClr val="2A2440"/>
            </a:solidFill>
            <a:prstDash val="solid"/>
          </a:ln>
        </p:spPr>
      </p:sp>
      <p:sp>
        <p:nvSpPr>
          <p:cNvPr id="5" name="Shape 3"/>
          <p:cNvSpPr/>
          <p:nvPr/>
        </p:nvSpPr>
        <p:spPr>
          <a:xfrm>
            <a:off x="960120" y="2148840"/>
            <a:ext cx="640080" cy="640080"/>
          </a:xfrm>
          <a:prstGeom prst="ellipse">
            <a:avLst/>
          </a:prstGeom>
          <a:solidFill>
            <a:srgbClr val="8B5CF6">
              <a:alpha val="18000"/>
            </a:srgbClr>
          </a:solidFill>
          <a:ln/>
        </p:spPr>
      </p:sp>
      <p:pic>
        <p:nvPicPr>
          <p:cNvPr id="6" name="Image 0" descr="/home/claude/pptx_project/icons/home_FFFFFF.png"/>
          <p:cNvPicPr>
            <a:picLocks noChangeAspect="1"/>
          </p:cNvPicPr>
          <p:nvPr/>
        </p:nvPicPr>
        <p:blipFill>
          <a:blip r:embed="rId3"/>
          <a:stretch>
            <a:fillRect/>
          </a:stretch>
        </p:blipFill>
        <p:spPr>
          <a:xfrm>
            <a:off x="1113739" y="2302459"/>
            <a:ext cx="332842" cy="332842"/>
          </a:xfrm>
          <a:prstGeom prst="rect">
            <a:avLst/>
          </a:prstGeom>
        </p:spPr>
      </p:pic>
      <p:sp>
        <p:nvSpPr>
          <p:cNvPr id="7" name="Text 4"/>
          <p:cNvSpPr/>
          <p:nvPr/>
        </p:nvSpPr>
        <p:spPr>
          <a:xfrm>
            <a:off x="1783080" y="2121408"/>
            <a:ext cx="3977640" cy="36576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index.html — Accueil</a:t>
            </a:r>
            <a:endParaRPr lang="en-US" sz="1500" dirty="0"/>
          </a:p>
        </p:txBody>
      </p:sp>
      <p:sp>
        <p:nvSpPr>
          <p:cNvPr id="8" name="Text 5"/>
          <p:cNvSpPr/>
          <p:nvPr/>
        </p:nvSpPr>
        <p:spPr>
          <a:xfrm>
            <a:off x="1783080" y="2487168"/>
            <a:ext cx="3931920" cy="1097280"/>
          </a:xfrm>
          <a:prstGeom prst="rect">
            <a:avLst/>
          </a:prstGeom>
          <a:noFill/>
          <a:ln/>
        </p:spPr>
        <p:txBody>
          <a:bodyPr wrap="square" lIns="0" tIns="0" rIns="0" bIns="0" rtlCol="0" anchor="t"/>
          <a:lstStyle/>
          <a:p>
            <a:pPr marL="0" indent="0">
              <a:lnSpc>
                <a:spcPct val="125000"/>
              </a:lnSpc>
              <a:buNone/>
            </a:pPr>
            <a:r>
              <a:rPr lang="en-US" sz="1200" dirty="0">
                <a:solidFill>
                  <a:srgbClr val="9A94B3"/>
                </a:solidFill>
                <a:latin typeface="Calibri" pitchFamily="34" charset="0"/>
                <a:ea typeface="Calibri" pitchFamily="34" charset="-122"/>
                <a:cs typeface="Calibri" pitchFamily="34" charset="-120"/>
              </a:rPr>
              <a:t>Hero vidéo, compte à rebours, chiffres clés, intervenants vedettes, sponsors.</a:t>
            </a:r>
            <a:endParaRPr lang="en-US" sz="1200" dirty="0"/>
          </a:p>
        </p:txBody>
      </p:sp>
      <p:sp>
        <p:nvSpPr>
          <p:cNvPr id="9" name="Shape 6"/>
          <p:cNvSpPr/>
          <p:nvPr/>
        </p:nvSpPr>
        <p:spPr>
          <a:xfrm>
            <a:off x="6263640" y="1828800"/>
            <a:ext cx="5349240" cy="1920240"/>
          </a:xfrm>
          <a:prstGeom prst="roundRect">
            <a:avLst>
              <a:gd name="adj" fmla="val 4762"/>
            </a:avLst>
          </a:prstGeom>
          <a:solidFill>
            <a:srgbClr val="14101F"/>
          </a:solidFill>
          <a:ln w="12700">
            <a:solidFill>
              <a:srgbClr val="2A2440"/>
            </a:solidFill>
            <a:prstDash val="solid"/>
          </a:ln>
        </p:spPr>
      </p:sp>
      <p:sp>
        <p:nvSpPr>
          <p:cNvPr id="10" name="Shape 7"/>
          <p:cNvSpPr/>
          <p:nvPr/>
        </p:nvSpPr>
        <p:spPr>
          <a:xfrm>
            <a:off x="6583680" y="2148840"/>
            <a:ext cx="640080" cy="640080"/>
          </a:xfrm>
          <a:prstGeom prst="ellipse">
            <a:avLst/>
          </a:prstGeom>
          <a:solidFill>
            <a:srgbClr val="8B5CF6">
              <a:alpha val="18000"/>
            </a:srgbClr>
          </a:solidFill>
          <a:ln/>
        </p:spPr>
      </p:sp>
      <p:pic>
        <p:nvPicPr>
          <p:cNvPr id="11" name="Image 1" descr="/home/claude/pptx_project/icons/calendar_FFFFFF.png"/>
          <p:cNvPicPr>
            <a:picLocks noChangeAspect="1"/>
          </p:cNvPicPr>
          <p:nvPr/>
        </p:nvPicPr>
        <p:blipFill>
          <a:blip r:embed="rId4"/>
          <a:stretch>
            <a:fillRect/>
          </a:stretch>
        </p:blipFill>
        <p:spPr>
          <a:xfrm>
            <a:off x="6737299" y="2302459"/>
            <a:ext cx="332842" cy="332842"/>
          </a:xfrm>
          <a:prstGeom prst="rect">
            <a:avLst/>
          </a:prstGeom>
        </p:spPr>
      </p:pic>
      <p:sp>
        <p:nvSpPr>
          <p:cNvPr id="12" name="Text 8"/>
          <p:cNvSpPr/>
          <p:nvPr/>
        </p:nvSpPr>
        <p:spPr>
          <a:xfrm>
            <a:off x="7406640" y="2121408"/>
            <a:ext cx="3977640" cy="36576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programme.html</a:t>
            </a:r>
            <a:endParaRPr lang="en-US" sz="1500" dirty="0"/>
          </a:p>
        </p:txBody>
      </p:sp>
      <p:sp>
        <p:nvSpPr>
          <p:cNvPr id="13" name="Text 9"/>
          <p:cNvSpPr/>
          <p:nvPr/>
        </p:nvSpPr>
        <p:spPr>
          <a:xfrm>
            <a:off x="7406640" y="2487168"/>
            <a:ext cx="3931920" cy="1097280"/>
          </a:xfrm>
          <a:prstGeom prst="rect">
            <a:avLst/>
          </a:prstGeom>
          <a:noFill/>
          <a:ln/>
        </p:spPr>
        <p:txBody>
          <a:bodyPr wrap="square" lIns="0" tIns="0" rIns="0" bIns="0" rtlCol="0" anchor="t"/>
          <a:lstStyle/>
          <a:p>
            <a:pPr marL="0" indent="0">
              <a:lnSpc>
                <a:spcPct val="125000"/>
              </a:lnSpc>
              <a:buNone/>
            </a:pPr>
            <a:r>
              <a:rPr lang="en-US" sz="1200" dirty="0">
                <a:solidFill>
                  <a:srgbClr val="9A94B3"/>
                </a:solidFill>
                <a:latin typeface="Calibri" pitchFamily="34" charset="0"/>
                <a:ea typeface="Calibri" pitchFamily="34" charset="-122"/>
                <a:cs typeface="Calibri" pitchFamily="34" charset="-120"/>
              </a:rPr>
              <a:t>Onglets 3 jours, tableau de planning, grille des thématiques.</a:t>
            </a:r>
            <a:endParaRPr lang="en-US" sz="1200" dirty="0"/>
          </a:p>
        </p:txBody>
      </p:sp>
      <p:sp>
        <p:nvSpPr>
          <p:cNvPr id="14" name="Shape 10"/>
          <p:cNvSpPr/>
          <p:nvPr/>
        </p:nvSpPr>
        <p:spPr>
          <a:xfrm>
            <a:off x="640080" y="4023360"/>
            <a:ext cx="5349240" cy="1920240"/>
          </a:xfrm>
          <a:prstGeom prst="roundRect">
            <a:avLst>
              <a:gd name="adj" fmla="val 4762"/>
            </a:avLst>
          </a:prstGeom>
          <a:solidFill>
            <a:srgbClr val="14101F"/>
          </a:solidFill>
          <a:ln w="12700">
            <a:solidFill>
              <a:srgbClr val="2A2440"/>
            </a:solidFill>
            <a:prstDash val="solid"/>
          </a:ln>
        </p:spPr>
      </p:sp>
      <p:sp>
        <p:nvSpPr>
          <p:cNvPr id="15" name="Shape 11"/>
          <p:cNvSpPr/>
          <p:nvPr/>
        </p:nvSpPr>
        <p:spPr>
          <a:xfrm>
            <a:off x="960120" y="4343400"/>
            <a:ext cx="640080" cy="640080"/>
          </a:xfrm>
          <a:prstGeom prst="ellipse">
            <a:avLst/>
          </a:prstGeom>
          <a:solidFill>
            <a:srgbClr val="8B5CF6">
              <a:alpha val="18000"/>
            </a:srgbClr>
          </a:solidFill>
          <a:ln/>
        </p:spPr>
      </p:sp>
      <p:pic>
        <p:nvPicPr>
          <p:cNvPr id="16" name="Image 2" descr="/home/claude/pptx_project/icons/users_FFFFFF.png"/>
          <p:cNvPicPr>
            <a:picLocks noChangeAspect="1"/>
          </p:cNvPicPr>
          <p:nvPr/>
        </p:nvPicPr>
        <p:blipFill>
          <a:blip r:embed="rId5"/>
          <a:stretch>
            <a:fillRect/>
          </a:stretch>
        </p:blipFill>
        <p:spPr>
          <a:xfrm>
            <a:off x="1113739" y="4497019"/>
            <a:ext cx="332842" cy="332842"/>
          </a:xfrm>
          <a:prstGeom prst="rect">
            <a:avLst/>
          </a:prstGeom>
        </p:spPr>
      </p:pic>
      <p:sp>
        <p:nvSpPr>
          <p:cNvPr id="17" name="Text 12"/>
          <p:cNvSpPr/>
          <p:nvPr/>
        </p:nvSpPr>
        <p:spPr>
          <a:xfrm>
            <a:off x="1783080" y="4315968"/>
            <a:ext cx="3977640" cy="36576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intervenants.html</a:t>
            </a:r>
            <a:endParaRPr lang="en-US" sz="1500" dirty="0"/>
          </a:p>
        </p:txBody>
      </p:sp>
      <p:sp>
        <p:nvSpPr>
          <p:cNvPr id="18" name="Text 13"/>
          <p:cNvSpPr/>
          <p:nvPr/>
        </p:nvSpPr>
        <p:spPr>
          <a:xfrm>
            <a:off x="1783080" y="4681728"/>
            <a:ext cx="3931920" cy="1097280"/>
          </a:xfrm>
          <a:prstGeom prst="rect">
            <a:avLst/>
          </a:prstGeom>
          <a:noFill/>
          <a:ln/>
        </p:spPr>
        <p:txBody>
          <a:bodyPr wrap="square" lIns="0" tIns="0" rIns="0" bIns="0" rtlCol="0" anchor="t"/>
          <a:lstStyle/>
          <a:p>
            <a:pPr marL="0" indent="0">
              <a:lnSpc>
                <a:spcPct val="125000"/>
              </a:lnSpc>
              <a:buNone/>
            </a:pPr>
            <a:r>
              <a:rPr lang="en-US" sz="1200" dirty="0">
                <a:solidFill>
                  <a:srgbClr val="9A94B3"/>
                </a:solidFill>
                <a:latin typeface="Calibri" pitchFamily="34" charset="0"/>
                <a:ea typeface="Calibri" pitchFamily="34" charset="-122"/>
                <a:cs typeface="Calibri" pitchFamily="34" charset="-120"/>
              </a:rPr>
              <a:t>Filtrage dynamique par thématique, grille de 9 intervenants.</a:t>
            </a:r>
            <a:endParaRPr lang="en-US" sz="1200" dirty="0"/>
          </a:p>
        </p:txBody>
      </p:sp>
      <p:sp>
        <p:nvSpPr>
          <p:cNvPr id="19" name="Shape 14"/>
          <p:cNvSpPr/>
          <p:nvPr/>
        </p:nvSpPr>
        <p:spPr>
          <a:xfrm>
            <a:off x="6263640" y="4023360"/>
            <a:ext cx="5349240" cy="1920240"/>
          </a:xfrm>
          <a:prstGeom prst="roundRect">
            <a:avLst>
              <a:gd name="adj" fmla="val 4762"/>
            </a:avLst>
          </a:prstGeom>
          <a:solidFill>
            <a:srgbClr val="14101F"/>
          </a:solidFill>
          <a:ln w="12700">
            <a:solidFill>
              <a:srgbClr val="2A2440"/>
            </a:solidFill>
            <a:prstDash val="solid"/>
          </a:ln>
        </p:spPr>
      </p:sp>
      <p:sp>
        <p:nvSpPr>
          <p:cNvPr id="20" name="Shape 15"/>
          <p:cNvSpPr/>
          <p:nvPr/>
        </p:nvSpPr>
        <p:spPr>
          <a:xfrm>
            <a:off x="6583680" y="4343400"/>
            <a:ext cx="640080" cy="640080"/>
          </a:xfrm>
          <a:prstGeom prst="ellipse">
            <a:avLst/>
          </a:prstGeom>
          <a:solidFill>
            <a:srgbClr val="8B5CF6">
              <a:alpha val="18000"/>
            </a:srgbClr>
          </a:solidFill>
          <a:ln/>
        </p:spPr>
      </p:sp>
      <p:pic>
        <p:nvPicPr>
          <p:cNvPr id="21" name="Image 3" descr="/home/claude/pptx_project/icons/mail_FFFFFF.png"/>
          <p:cNvPicPr>
            <a:picLocks noChangeAspect="1"/>
          </p:cNvPicPr>
          <p:nvPr/>
        </p:nvPicPr>
        <p:blipFill>
          <a:blip r:embed="rId6"/>
          <a:stretch>
            <a:fillRect/>
          </a:stretch>
        </p:blipFill>
        <p:spPr>
          <a:xfrm>
            <a:off x="6737299" y="4497019"/>
            <a:ext cx="332842" cy="332842"/>
          </a:xfrm>
          <a:prstGeom prst="rect">
            <a:avLst/>
          </a:prstGeom>
        </p:spPr>
      </p:pic>
      <p:sp>
        <p:nvSpPr>
          <p:cNvPr id="22" name="Text 16"/>
          <p:cNvSpPr/>
          <p:nvPr/>
        </p:nvSpPr>
        <p:spPr>
          <a:xfrm>
            <a:off x="7406640" y="4315968"/>
            <a:ext cx="3977640" cy="36576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contact.html</a:t>
            </a:r>
            <a:endParaRPr lang="en-US" sz="1500" dirty="0"/>
          </a:p>
        </p:txBody>
      </p:sp>
      <p:sp>
        <p:nvSpPr>
          <p:cNvPr id="23" name="Text 17"/>
          <p:cNvSpPr/>
          <p:nvPr/>
        </p:nvSpPr>
        <p:spPr>
          <a:xfrm>
            <a:off x="7406640" y="4681728"/>
            <a:ext cx="3931920" cy="1097280"/>
          </a:xfrm>
          <a:prstGeom prst="rect">
            <a:avLst/>
          </a:prstGeom>
          <a:noFill/>
          <a:ln/>
        </p:spPr>
        <p:txBody>
          <a:bodyPr wrap="square" lIns="0" tIns="0" rIns="0" bIns="0" rtlCol="0" anchor="t"/>
          <a:lstStyle/>
          <a:p>
            <a:pPr marL="0" indent="0">
              <a:lnSpc>
                <a:spcPct val="125000"/>
              </a:lnSpc>
              <a:buNone/>
            </a:pPr>
            <a:r>
              <a:rPr lang="en-US" sz="1200" dirty="0">
                <a:solidFill>
                  <a:srgbClr val="9A94B3"/>
                </a:solidFill>
                <a:latin typeface="Calibri" pitchFamily="34" charset="0"/>
                <a:ea typeface="Calibri" pitchFamily="34" charset="-122"/>
                <a:cs typeface="Calibri" pitchFamily="34" charset="-120"/>
              </a:rPr>
              <a:t>Formulaire d'inscription validé, FAQ accordéon CSS, carte.</a:t>
            </a:r>
            <a:endParaRPr lang="en-US" sz="1200" dirty="0"/>
          </a:p>
        </p:txBody>
      </p:sp>
      <p:sp>
        <p:nvSpPr>
          <p:cNvPr id="24" name="Text 18"/>
          <p:cNvSpPr/>
          <p:nvPr/>
        </p:nvSpPr>
        <p:spPr>
          <a:xfrm>
            <a:off x="457200" y="6537960"/>
            <a:ext cx="5486400" cy="274320"/>
          </a:xfrm>
          <a:prstGeom prst="rect">
            <a:avLst/>
          </a:prstGeom>
          <a:noFill/>
          <a:ln/>
        </p:spPr>
        <p:txBody>
          <a:bodyPr wrap="square" lIns="0" tIns="0" rIns="0" bIns="0" rtlCol="0" anchor="ctr"/>
          <a:lstStyle/>
          <a:p>
            <a:pPr marL="0" indent="0">
              <a:buNone/>
            </a:pPr>
            <a:r>
              <a:rPr lang="en-US" sz="1000" dirty="0">
                <a:solidFill>
                  <a:srgbClr val="9A94B3"/>
                </a:solidFill>
                <a:latin typeface="Calibri" pitchFamily="34" charset="0"/>
                <a:ea typeface="Calibri" pitchFamily="34" charset="-122"/>
                <a:cs typeface="Calibri" pitchFamily="34" charset="-120"/>
              </a:rPr>
              <a:t>AfriConnect Summit 2026 — Projet Web L1</a:t>
            </a:r>
            <a:endParaRPr lang="en-US" sz="1000" dirty="0"/>
          </a:p>
        </p:txBody>
      </p:sp>
      <p:sp>
        <p:nvSpPr>
          <p:cNvPr id="25" name="Text 19"/>
          <p:cNvSpPr/>
          <p:nvPr/>
        </p:nvSpPr>
        <p:spPr>
          <a:xfrm>
            <a:off x="11338560" y="6537960"/>
            <a:ext cx="457200" cy="274320"/>
          </a:xfrm>
          <a:prstGeom prst="rect">
            <a:avLst/>
          </a:prstGeom>
          <a:noFill/>
          <a:ln/>
        </p:spPr>
        <p:txBody>
          <a:bodyPr wrap="square" lIns="0" tIns="0" rIns="0" bIns="0" rtlCol="0" anchor="ctr"/>
          <a:lstStyle/>
          <a:p>
            <a:pPr marL="0" indent="0" algn="r">
              <a:buNone/>
            </a:pPr>
            <a:r>
              <a:rPr lang="en-US" sz="1000" dirty="0">
                <a:solidFill>
                  <a:srgbClr val="9A94B3"/>
                </a:solidFill>
                <a:latin typeface="Calibri" pitchFamily="34" charset="0"/>
                <a:ea typeface="Calibri" pitchFamily="34" charset="-122"/>
                <a:cs typeface="Calibri" pitchFamily="34" charset="-120"/>
              </a:rPr>
              <a:t>5</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714"/>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buNone/>
            </a:pPr>
            <a:r>
              <a:rPr lang="en-US" sz="1200" b="1" kern="0" spc="200" dirty="0">
                <a:solidFill>
                  <a:srgbClr val="A78BFA"/>
                </a:solidFill>
                <a:latin typeface="Calibri" pitchFamily="34" charset="0"/>
                <a:ea typeface="Calibri" pitchFamily="34" charset="-122"/>
                <a:cs typeface="Calibri" pitchFamily="34" charset="-120"/>
              </a:rPr>
              <a:t>PAGE 1 · ACCUEIL</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marL="0" indent="0">
              <a:buNone/>
            </a:pPr>
            <a:r>
              <a:rPr lang="en-US" sz="2600" b="1" dirty="0">
                <a:solidFill>
                  <a:srgbClr val="F5F3FA"/>
                </a:solidFill>
                <a:latin typeface="Calibri" pitchFamily="34" charset="0"/>
                <a:ea typeface="Calibri" pitchFamily="34" charset="-122"/>
                <a:cs typeface="Calibri" pitchFamily="34" charset="-120"/>
              </a:rPr>
              <a:t>Un hero immersif qui donne le ton</a:t>
            </a:r>
            <a:endParaRPr lang="en-US" sz="2600" dirty="0"/>
          </a:p>
        </p:txBody>
      </p:sp>
      <p:sp>
        <p:nvSpPr>
          <p:cNvPr id="4" name="Shape 2"/>
          <p:cNvSpPr/>
          <p:nvPr/>
        </p:nvSpPr>
        <p:spPr>
          <a:xfrm>
            <a:off x="640080" y="1783080"/>
            <a:ext cx="594360" cy="594360"/>
          </a:xfrm>
          <a:prstGeom prst="ellipse">
            <a:avLst/>
          </a:prstGeom>
          <a:solidFill>
            <a:srgbClr val="8B5CF6">
              <a:alpha val="18000"/>
            </a:srgbClr>
          </a:solidFill>
          <a:ln/>
        </p:spPr>
      </p:sp>
      <p:pic>
        <p:nvPicPr>
          <p:cNvPr id="5" name="Image 0" descr="/home/claude/pptx_project/icons/video_FFFFFF.png"/>
          <p:cNvPicPr>
            <a:picLocks noChangeAspect="1"/>
          </p:cNvPicPr>
          <p:nvPr/>
        </p:nvPicPr>
        <p:blipFill>
          <a:blip r:embed="rId3"/>
          <a:stretch>
            <a:fillRect/>
          </a:stretch>
        </p:blipFill>
        <p:spPr>
          <a:xfrm>
            <a:off x="782726" y="1925726"/>
            <a:ext cx="309067" cy="309067"/>
          </a:xfrm>
          <a:prstGeom prst="rect">
            <a:avLst/>
          </a:prstGeom>
        </p:spPr>
      </p:pic>
      <p:sp>
        <p:nvSpPr>
          <p:cNvPr id="6" name="Text 3"/>
          <p:cNvSpPr/>
          <p:nvPr/>
        </p:nvSpPr>
        <p:spPr>
          <a:xfrm>
            <a:off x="1417320" y="1764792"/>
            <a:ext cx="3840480" cy="32004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Vidéo en fond de hero</a:t>
            </a:r>
            <a:endParaRPr lang="en-US" sz="1500" dirty="0"/>
          </a:p>
        </p:txBody>
      </p:sp>
      <p:sp>
        <p:nvSpPr>
          <p:cNvPr id="7" name="Text 4"/>
          <p:cNvSpPr/>
          <p:nvPr/>
        </p:nvSpPr>
        <p:spPr>
          <a:xfrm>
            <a:off x="1417320" y="2075688"/>
            <a:ext cx="9966960" cy="502920"/>
          </a:xfrm>
          <a:prstGeom prst="rect">
            <a:avLst/>
          </a:prstGeom>
          <a:noFill/>
          <a:ln/>
        </p:spPr>
        <p:txBody>
          <a:bodyPr wrap="square" lIns="0" tIns="0" rIns="0" bIns="0" rtlCol="0" anchor="ctr"/>
          <a:lstStyle/>
          <a:p>
            <a:pPr marL="0" indent="0">
              <a:lnSpc>
                <a:spcPct val="120000"/>
              </a:lnSpc>
              <a:buNone/>
            </a:pPr>
            <a:r>
              <a:rPr lang="en-US" sz="1250" dirty="0">
                <a:solidFill>
                  <a:srgbClr val="9A94B3"/>
                </a:solidFill>
                <a:latin typeface="Calibri" pitchFamily="34" charset="0"/>
                <a:ea typeface="Calibri" pitchFamily="34" charset="-122"/>
                <a:cs typeface="Calibri" pitchFamily="34" charset="-120"/>
              </a:rPr>
              <a:t>Vidéo plein écran avec overlay sombre, lecture automatique en boucle (autoplay, muted, loop).</a:t>
            </a:r>
            <a:endParaRPr lang="en-US" sz="1250" dirty="0"/>
          </a:p>
        </p:txBody>
      </p:sp>
      <p:sp>
        <p:nvSpPr>
          <p:cNvPr id="8" name="Shape 5"/>
          <p:cNvSpPr/>
          <p:nvPr/>
        </p:nvSpPr>
        <p:spPr>
          <a:xfrm>
            <a:off x="640080" y="2834640"/>
            <a:ext cx="594360" cy="594360"/>
          </a:xfrm>
          <a:prstGeom prst="ellipse">
            <a:avLst/>
          </a:prstGeom>
          <a:solidFill>
            <a:srgbClr val="8B5CF6">
              <a:alpha val="18000"/>
            </a:srgbClr>
          </a:solidFill>
          <a:ln/>
        </p:spPr>
      </p:sp>
      <p:pic>
        <p:nvPicPr>
          <p:cNvPr id="9" name="Image 1" descr="/home/claude/pptx_project/icons/clock_FFFFFF.png"/>
          <p:cNvPicPr>
            <a:picLocks noChangeAspect="1"/>
          </p:cNvPicPr>
          <p:nvPr/>
        </p:nvPicPr>
        <p:blipFill>
          <a:blip r:embed="rId4"/>
          <a:stretch>
            <a:fillRect/>
          </a:stretch>
        </p:blipFill>
        <p:spPr>
          <a:xfrm>
            <a:off x="782726" y="2977286"/>
            <a:ext cx="309067" cy="309067"/>
          </a:xfrm>
          <a:prstGeom prst="rect">
            <a:avLst/>
          </a:prstGeom>
        </p:spPr>
      </p:pic>
      <p:sp>
        <p:nvSpPr>
          <p:cNvPr id="10" name="Text 6"/>
          <p:cNvSpPr/>
          <p:nvPr/>
        </p:nvSpPr>
        <p:spPr>
          <a:xfrm>
            <a:off x="1417320" y="2816352"/>
            <a:ext cx="3840480" cy="32004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Compte à rebours en temps réel</a:t>
            </a:r>
            <a:endParaRPr lang="en-US" sz="1500" dirty="0"/>
          </a:p>
        </p:txBody>
      </p:sp>
      <p:sp>
        <p:nvSpPr>
          <p:cNvPr id="11" name="Text 7"/>
          <p:cNvSpPr/>
          <p:nvPr/>
        </p:nvSpPr>
        <p:spPr>
          <a:xfrm>
            <a:off x="1417320" y="3127248"/>
            <a:ext cx="9966960" cy="502920"/>
          </a:xfrm>
          <a:prstGeom prst="rect">
            <a:avLst/>
          </a:prstGeom>
          <a:noFill/>
          <a:ln/>
        </p:spPr>
        <p:txBody>
          <a:bodyPr wrap="square" lIns="0" tIns="0" rIns="0" bIns="0" rtlCol="0" anchor="ctr"/>
          <a:lstStyle/>
          <a:p>
            <a:pPr marL="0" indent="0">
              <a:lnSpc>
                <a:spcPct val="120000"/>
              </a:lnSpc>
              <a:buNone/>
            </a:pPr>
            <a:r>
              <a:rPr lang="en-US" sz="1250" dirty="0">
                <a:solidFill>
                  <a:srgbClr val="9A94B3"/>
                </a:solidFill>
                <a:latin typeface="Calibri" pitchFamily="34" charset="0"/>
                <a:ea typeface="Calibri" pitchFamily="34" charset="-122"/>
                <a:cs typeface="Calibri" pitchFamily="34" charset="-120"/>
              </a:rPr>
              <a:t>Jours / heures / minutes / secondes jusqu'à la date de la conférence, recalculé chaque seconde.</a:t>
            </a:r>
            <a:endParaRPr lang="en-US" sz="1250" dirty="0"/>
          </a:p>
        </p:txBody>
      </p:sp>
      <p:sp>
        <p:nvSpPr>
          <p:cNvPr id="12" name="Shape 8"/>
          <p:cNvSpPr/>
          <p:nvPr/>
        </p:nvSpPr>
        <p:spPr>
          <a:xfrm>
            <a:off x="640080" y="3886200"/>
            <a:ext cx="594360" cy="594360"/>
          </a:xfrm>
          <a:prstGeom prst="ellipse">
            <a:avLst/>
          </a:prstGeom>
          <a:solidFill>
            <a:srgbClr val="8B5CF6">
              <a:alpha val="18000"/>
            </a:srgbClr>
          </a:solidFill>
          <a:ln/>
        </p:spPr>
      </p:sp>
      <p:pic>
        <p:nvPicPr>
          <p:cNvPr id="13" name="Image 2" descr="/home/claude/pptx_project/icons/barchart_FFFFFF.png"/>
          <p:cNvPicPr>
            <a:picLocks noChangeAspect="1"/>
          </p:cNvPicPr>
          <p:nvPr/>
        </p:nvPicPr>
        <p:blipFill>
          <a:blip r:embed="rId5"/>
          <a:stretch>
            <a:fillRect/>
          </a:stretch>
        </p:blipFill>
        <p:spPr>
          <a:xfrm>
            <a:off x="782726" y="4028846"/>
            <a:ext cx="309067" cy="309067"/>
          </a:xfrm>
          <a:prstGeom prst="rect">
            <a:avLst/>
          </a:prstGeom>
        </p:spPr>
      </p:pic>
      <p:sp>
        <p:nvSpPr>
          <p:cNvPr id="14" name="Text 9"/>
          <p:cNvSpPr/>
          <p:nvPr/>
        </p:nvSpPr>
        <p:spPr>
          <a:xfrm>
            <a:off x="1417320" y="3867912"/>
            <a:ext cx="3840480" cy="32004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Compteurs animés au scroll</a:t>
            </a:r>
            <a:endParaRPr lang="en-US" sz="1500" dirty="0"/>
          </a:p>
        </p:txBody>
      </p:sp>
      <p:sp>
        <p:nvSpPr>
          <p:cNvPr id="15" name="Text 10"/>
          <p:cNvSpPr/>
          <p:nvPr/>
        </p:nvSpPr>
        <p:spPr>
          <a:xfrm>
            <a:off x="1417320" y="4178808"/>
            <a:ext cx="9966960" cy="502920"/>
          </a:xfrm>
          <a:prstGeom prst="rect">
            <a:avLst/>
          </a:prstGeom>
          <a:noFill/>
          <a:ln/>
        </p:spPr>
        <p:txBody>
          <a:bodyPr wrap="square" lIns="0" tIns="0" rIns="0" bIns="0" rtlCol="0" anchor="ctr"/>
          <a:lstStyle/>
          <a:p>
            <a:pPr marL="0" indent="0">
              <a:lnSpc>
                <a:spcPct val="120000"/>
              </a:lnSpc>
              <a:buNone/>
            </a:pPr>
            <a:r>
              <a:rPr lang="en-US" sz="1250" dirty="0">
                <a:solidFill>
                  <a:srgbClr val="9A94B3"/>
                </a:solidFill>
                <a:latin typeface="Calibri" pitchFamily="34" charset="0"/>
                <a:ea typeface="Calibri" pitchFamily="34" charset="-122"/>
                <a:cs typeface="Calibri" pitchFamily="34" charset="-120"/>
              </a:rPr>
              <a:t>+1 200 participants, 48 intervenants, 3 jours, 12 pays — incrémentation via IntersectionObserver.</a:t>
            </a:r>
            <a:endParaRPr lang="en-US" sz="1250" dirty="0"/>
          </a:p>
        </p:txBody>
      </p:sp>
      <p:sp>
        <p:nvSpPr>
          <p:cNvPr id="16" name="Shape 11"/>
          <p:cNvSpPr/>
          <p:nvPr/>
        </p:nvSpPr>
        <p:spPr>
          <a:xfrm>
            <a:off x="640080" y="4937760"/>
            <a:ext cx="594360" cy="594360"/>
          </a:xfrm>
          <a:prstGeom prst="ellipse">
            <a:avLst/>
          </a:prstGeom>
          <a:solidFill>
            <a:srgbClr val="8B5CF6">
              <a:alpha val="18000"/>
            </a:srgbClr>
          </a:solidFill>
          <a:ln/>
        </p:spPr>
      </p:sp>
      <p:pic>
        <p:nvPicPr>
          <p:cNvPr id="17" name="Image 3" descr="/home/claude/pptx_project/icons/award_FFFFFF.png"/>
          <p:cNvPicPr>
            <a:picLocks noChangeAspect="1"/>
          </p:cNvPicPr>
          <p:nvPr/>
        </p:nvPicPr>
        <p:blipFill>
          <a:blip r:embed="rId6"/>
          <a:stretch>
            <a:fillRect/>
          </a:stretch>
        </p:blipFill>
        <p:spPr>
          <a:xfrm>
            <a:off x="782726" y="5080406"/>
            <a:ext cx="309067" cy="309067"/>
          </a:xfrm>
          <a:prstGeom prst="rect">
            <a:avLst/>
          </a:prstGeom>
        </p:spPr>
      </p:pic>
      <p:sp>
        <p:nvSpPr>
          <p:cNvPr id="18" name="Text 12"/>
          <p:cNvSpPr/>
          <p:nvPr/>
        </p:nvSpPr>
        <p:spPr>
          <a:xfrm>
            <a:off x="1417320" y="4919472"/>
            <a:ext cx="3840480" cy="32004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Intervenants vedettes &amp; sponsors</a:t>
            </a:r>
            <a:endParaRPr lang="en-US" sz="1500" dirty="0"/>
          </a:p>
        </p:txBody>
      </p:sp>
      <p:sp>
        <p:nvSpPr>
          <p:cNvPr id="19" name="Text 13"/>
          <p:cNvSpPr/>
          <p:nvPr/>
        </p:nvSpPr>
        <p:spPr>
          <a:xfrm>
            <a:off x="1417320" y="5230368"/>
            <a:ext cx="9966960" cy="502920"/>
          </a:xfrm>
          <a:prstGeom prst="rect">
            <a:avLst/>
          </a:prstGeom>
          <a:noFill/>
          <a:ln/>
        </p:spPr>
        <p:txBody>
          <a:bodyPr wrap="square" lIns="0" tIns="0" rIns="0" bIns="0" rtlCol="0" anchor="ctr"/>
          <a:lstStyle/>
          <a:p>
            <a:pPr marL="0" indent="0">
              <a:lnSpc>
                <a:spcPct val="120000"/>
              </a:lnSpc>
              <a:buNone/>
            </a:pPr>
            <a:r>
              <a:rPr lang="en-US" sz="1250" dirty="0">
                <a:solidFill>
                  <a:srgbClr val="9A94B3"/>
                </a:solidFill>
                <a:latin typeface="Calibri" pitchFamily="34" charset="0"/>
                <a:ea typeface="Calibri" pitchFamily="34" charset="-122"/>
                <a:cs typeface="Calibri" pitchFamily="34" charset="-120"/>
              </a:rPr>
              <a:t>Grille CSS Grid avec effets hover, 3 niveaux de sponsors différenciés par taille.</a:t>
            </a:r>
            <a:endParaRPr lang="en-US" sz="1250" dirty="0"/>
          </a:p>
        </p:txBody>
      </p:sp>
      <p:sp>
        <p:nvSpPr>
          <p:cNvPr id="20" name="Text 14"/>
          <p:cNvSpPr/>
          <p:nvPr/>
        </p:nvSpPr>
        <p:spPr>
          <a:xfrm>
            <a:off x="457200" y="6537960"/>
            <a:ext cx="5486400" cy="274320"/>
          </a:xfrm>
          <a:prstGeom prst="rect">
            <a:avLst/>
          </a:prstGeom>
          <a:noFill/>
          <a:ln/>
        </p:spPr>
        <p:txBody>
          <a:bodyPr wrap="square" lIns="0" tIns="0" rIns="0" bIns="0" rtlCol="0" anchor="ctr"/>
          <a:lstStyle/>
          <a:p>
            <a:pPr marL="0" indent="0">
              <a:buNone/>
            </a:pPr>
            <a:r>
              <a:rPr lang="en-US" sz="1000" dirty="0">
                <a:solidFill>
                  <a:srgbClr val="9A94B3"/>
                </a:solidFill>
                <a:latin typeface="Calibri" pitchFamily="34" charset="0"/>
                <a:ea typeface="Calibri" pitchFamily="34" charset="-122"/>
                <a:cs typeface="Calibri" pitchFamily="34" charset="-120"/>
              </a:rPr>
              <a:t>AfriConnect Summit 2026 — Projet Web L1</a:t>
            </a:r>
            <a:endParaRPr lang="en-US" sz="1000" dirty="0"/>
          </a:p>
        </p:txBody>
      </p:sp>
      <p:sp>
        <p:nvSpPr>
          <p:cNvPr id="21" name="Text 15"/>
          <p:cNvSpPr/>
          <p:nvPr/>
        </p:nvSpPr>
        <p:spPr>
          <a:xfrm>
            <a:off x="11338560" y="6537960"/>
            <a:ext cx="457200" cy="274320"/>
          </a:xfrm>
          <a:prstGeom prst="rect">
            <a:avLst/>
          </a:prstGeom>
          <a:noFill/>
          <a:ln/>
        </p:spPr>
        <p:txBody>
          <a:bodyPr wrap="square" lIns="0" tIns="0" rIns="0" bIns="0" rtlCol="0" anchor="ctr"/>
          <a:lstStyle/>
          <a:p>
            <a:pPr marL="0" indent="0" algn="r">
              <a:buNone/>
            </a:pPr>
            <a:r>
              <a:rPr lang="en-US" sz="1000" dirty="0">
                <a:solidFill>
                  <a:srgbClr val="9A94B3"/>
                </a:solidFill>
                <a:latin typeface="Calibri" pitchFamily="34" charset="0"/>
                <a:ea typeface="Calibri" pitchFamily="34" charset="-122"/>
                <a:cs typeface="Calibri" pitchFamily="34" charset="-120"/>
              </a:rPr>
              <a:t>6</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714"/>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buNone/>
            </a:pPr>
            <a:r>
              <a:rPr lang="en-US" sz="1200" b="1" kern="0" spc="200" dirty="0">
                <a:solidFill>
                  <a:srgbClr val="A78BFA"/>
                </a:solidFill>
                <a:latin typeface="Calibri" pitchFamily="34" charset="0"/>
                <a:ea typeface="Calibri" pitchFamily="34" charset="-122"/>
                <a:cs typeface="Calibri" pitchFamily="34" charset="-120"/>
              </a:rPr>
              <a:t>PAGE 2 · PROGRAMME</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marL="0" indent="0">
              <a:buNone/>
            </a:pPr>
            <a:r>
              <a:rPr lang="en-US" sz="2600" b="1" dirty="0">
                <a:solidFill>
                  <a:srgbClr val="F5F3FA"/>
                </a:solidFill>
                <a:latin typeface="Calibri" pitchFamily="34" charset="0"/>
                <a:ea typeface="Calibri" pitchFamily="34" charset="-122"/>
                <a:cs typeface="Calibri" pitchFamily="34" charset="-120"/>
              </a:rPr>
              <a:t>Naviguer entre 3 jours sans recharger la page</a:t>
            </a:r>
            <a:endParaRPr lang="en-US" sz="2600" dirty="0"/>
          </a:p>
        </p:txBody>
      </p:sp>
      <p:sp>
        <p:nvSpPr>
          <p:cNvPr id="4" name="Shape 2"/>
          <p:cNvSpPr/>
          <p:nvPr/>
        </p:nvSpPr>
        <p:spPr>
          <a:xfrm>
            <a:off x="640080" y="1828800"/>
            <a:ext cx="1371600" cy="502920"/>
          </a:xfrm>
          <a:prstGeom prst="roundRect">
            <a:avLst>
              <a:gd name="adj" fmla="val 14545"/>
            </a:avLst>
          </a:prstGeom>
          <a:solidFill>
            <a:srgbClr val="8B5CF6"/>
          </a:solidFill>
          <a:ln w="12700">
            <a:solidFill>
              <a:srgbClr val="2A2440"/>
            </a:solidFill>
            <a:prstDash val="solid"/>
          </a:ln>
        </p:spPr>
      </p:sp>
      <p:sp>
        <p:nvSpPr>
          <p:cNvPr id="5" name="Text 3"/>
          <p:cNvSpPr/>
          <p:nvPr/>
        </p:nvSpPr>
        <p:spPr>
          <a:xfrm>
            <a:off x="640080" y="1828800"/>
            <a:ext cx="1371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Jour 1</a:t>
            </a:r>
            <a:endParaRPr lang="en-US" sz="1300" dirty="0"/>
          </a:p>
        </p:txBody>
      </p:sp>
      <p:sp>
        <p:nvSpPr>
          <p:cNvPr id="6" name="Shape 4"/>
          <p:cNvSpPr/>
          <p:nvPr/>
        </p:nvSpPr>
        <p:spPr>
          <a:xfrm>
            <a:off x="2148840" y="1828800"/>
            <a:ext cx="1371600" cy="502920"/>
          </a:xfrm>
          <a:prstGeom prst="roundRect">
            <a:avLst>
              <a:gd name="adj" fmla="val 14545"/>
            </a:avLst>
          </a:prstGeom>
          <a:solidFill>
            <a:srgbClr val="14101F"/>
          </a:solidFill>
          <a:ln w="12700">
            <a:solidFill>
              <a:srgbClr val="2A2440"/>
            </a:solidFill>
            <a:prstDash val="solid"/>
          </a:ln>
        </p:spPr>
      </p:sp>
      <p:sp>
        <p:nvSpPr>
          <p:cNvPr id="7" name="Text 5"/>
          <p:cNvSpPr/>
          <p:nvPr/>
        </p:nvSpPr>
        <p:spPr>
          <a:xfrm>
            <a:off x="2148840" y="1828800"/>
            <a:ext cx="1371600" cy="502920"/>
          </a:xfrm>
          <a:prstGeom prst="rect">
            <a:avLst/>
          </a:prstGeom>
          <a:noFill/>
          <a:ln/>
        </p:spPr>
        <p:txBody>
          <a:bodyPr wrap="square" lIns="0" tIns="0" rIns="0" bIns="0" rtlCol="0" anchor="ctr"/>
          <a:lstStyle/>
          <a:p>
            <a:pPr marL="0" indent="0" algn="ctr">
              <a:buNone/>
            </a:pPr>
            <a:r>
              <a:rPr lang="en-US" sz="1300" dirty="0">
                <a:solidFill>
                  <a:srgbClr val="9A94B3"/>
                </a:solidFill>
                <a:latin typeface="Calibri" pitchFamily="34" charset="0"/>
                <a:ea typeface="Calibri" pitchFamily="34" charset="-122"/>
                <a:cs typeface="Calibri" pitchFamily="34" charset="-120"/>
              </a:rPr>
              <a:t>Jour 2</a:t>
            </a:r>
            <a:endParaRPr lang="en-US" sz="1300" dirty="0"/>
          </a:p>
        </p:txBody>
      </p:sp>
      <p:sp>
        <p:nvSpPr>
          <p:cNvPr id="8" name="Shape 6"/>
          <p:cNvSpPr/>
          <p:nvPr/>
        </p:nvSpPr>
        <p:spPr>
          <a:xfrm>
            <a:off x="3657600" y="1828800"/>
            <a:ext cx="1371600" cy="502920"/>
          </a:xfrm>
          <a:prstGeom prst="roundRect">
            <a:avLst>
              <a:gd name="adj" fmla="val 14545"/>
            </a:avLst>
          </a:prstGeom>
          <a:solidFill>
            <a:srgbClr val="14101F"/>
          </a:solidFill>
          <a:ln w="12700">
            <a:solidFill>
              <a:srgbClr val="2A2440"/>
            </a:solidFill>
            <a:prstDash val="solid"/>
          </a:ln>
        </p:spPr>
      </p:sp>
      <p:sp>
        <p:nvSpPr>
          <p:cNvPr id="9" name="Text 7"/>
          <p:cNvSpPr/>
          <p:nvPr/>
        </p:nvSpPr>
        <p:spPr>
          <a:xfrm>
            <a:off x="3657600" y="1828800"/>
            <a:ext cx="1371600" cy="502920"/>
          </a:xfrm>
          <a:prstGeom prst="rect">
            <a:avLst/>
          </a:prstGeom>
          <a:noFill/>
          <a:ln/>
        </p:spPr>
        <p:txBody>
          <a:bodyPr wrap="square" lIns="0" tIns="0" rIns="0" bIns="0" rtlCol="0" anchor="ctr"/>
          <a:lstStyle/>
          <a:p>
            <a:pPr marL="0" indent="0" algn="ctr">
              <a:buNone/>
            </a:pPr>
            <a:r>
              <a:rPr lang="en-US" sz="1300" dirty="0">
                <a:solidFill>
                  <a:srgbClr val="9A94B3"/>
                </a:solidFill>
                <a:latin typeface="Calibri" pitchFamily="34" charset="0"/>
                <a:ea typeface="Calibri" pitchFamily="34" charset="-122"/>
                <a:cs typeface="Calibri" pitchFamily="34" charset="-120"/>
              </a:rPr>
              <a:t>Jour 3</a:t>
            </a:r>
            <a:endParaRPr lang="en-US" sz="1300" dirty="0"/>
          </a:p>
        </p:txBody>
      </p:sp>
      <p:sp>
        <p:nvSpPr>
          <p:cNvPr id="10" name="Shape 8"/>
          <p:cNvSpPr/>
          <p:nvPr/>
        </p:nvSpPr>
        <p:spPr>
          <a:xfrm>
            <a:off x="640080" y="2560320"/>
            <a:ext cx="6035040" cy="2834640"/>
          </a:xfrm>
          <a:prstGeom prst="roundRect">
            <a:avLst>
              <a:gd name="adj" fmla="val 2581"/>
            </a:avLst>
          </a:prstGeom>
          <a:solidFill>
            <a:srgbClr val="14101F"/>
          </a:solidFill>
          <a:ln w="12700">
            <a:solidFill>
              <a:srgbClr val="2A2440"/>
            </a:solidFill>
            <a:prstDash val="solid"/>
          </a:ln>
        </p:spPr>
      </p:sp>
      <p:sp>
        <p:nvSpPr>
          <p:cNvPr id="11" name="Text 9"/>
          <p:cNvSpPr/>
          <p:nvPr/>
        </p:nvSpPr>
        <p:spPr>
          <a:xfrm>
            <a:off x="777240" y="2697480"/>
            <a:ext cx="1005840" cy="274320"/>
          </a:xfrm>
          <a:prstGeom prst="rect">
            <a:avLst/>
          </a:prstGeom>
          <a:noFill/>
          <a:ln/>
        </p:spPr>
        <p:txBody>
          <a:bodyPr wrap="square" lIns="0" tIns="0" rIns="0" bIns="0" rtlCol="0" anchor="ctr"/>
          <a:lstStyle/>
          <a:p>
            <a:pPr marL="0" indent="0">
              <a:buNone/>
            </a:pPr>
            <a:r>
              <a:rPr lang="en-US" sz="1000" b="1" dirty="0">
                <a:solidFill>
                  <a:srgbClr val="A78BFA"/>
                </a:solidFill>
                <a:latin typeface="Calibri" pitchFamily="34" charset="0"/>
                <a:ea typeface="Calibri" pitchFamily="34" charset="-122"/>
                <a:cs typeface="Calibri" pitchFamily="34" charset="-120"/>
              </a:rPr>
              <a:t>Heure</a:t>
            </a:r>
            <a:endParaRPr lang="en-US" sz="1000" dirty="0"/>
          </a:p>
        </p:txBody>
      </p:sp>
      <p:sp>
        <p:nvSpPr>
          <p:cNvPr id="12" name="Text 10"/>
          <p:cNvSpPr/>
          <p:nvPr/>
        </p:nvSpPr>
        <p:spPr>
          <a:xfrm>
            <a:off x="1783080" y="2697480"/>
            <a:ext cx="3383280" cy="274320"/>
          </a:xfrm>
          <a:prstGeom prst="rect">
            <a:avLst/>
          </a:prstGeom>
          <a:noFill/>
          <a:ln/>
        </p:spPr>
        <p:txBody>
          <a:bodyPr wrap="square" lIns="0" tIns="0" rIns="0" bIns="0" rtlCol="0" anchor="ctr"/>
          <a:lstStyle/>
          <a:p>
            <a:pPr marL="0" indent="0">
              <a:buNone/>
            </a:pPr>
            <a:r>
              <a:rPr lang="en-US" sz="1000" b="1" dirty="0">
                <a:solidFill>
                  <a:srgbClr val="A78BFA"/>
                </a:solidFill>
                <a:latin typeface="Calibri" pitchFamily="34" charset="0"/>
                <a:ea typeface="Calibri" pitchFamily="34" charset="-122"/>
                <a:cs typeface="Calibri" pitchFamily="34" charset="-120"/>
              </a:rPr>
              <a:t>Session</a:t>
            </a:r>
            <a:endParaRPr lang="en-US" sz="1000" dirty="0"/>
          </a:p>
        </p:txBody>
      </p:sp>
      <p:sp>
        <p:nvSpPr>
          <p:cNvPr id="13" name="Text 11"/>
          <p:cNvSpPr/>
          <p:nvPr/>
        </p:nvSpPr>
        <p:spPr>
          <a:xfrm>
            <a:off x="5166360" y="2697480"/>
            <a:ext cx="1645920" cy="274320"/>
          </a:xfrm>
          <a:prstGeom prst="rect">
            <a:avLst/>
          </a:prstGeom>
          <a:noFill/>
          <a:ln/>
        </p:spPr>
        <p:txBody>
          <a:bodyPr wrap="square" lIns="0" tIns="0" rIns="0" bIns="0" rtlCol="0" anchor="ctr"/>
          <a:lstStyle/>
          <a:p>
            <a:pPr marL="0" indent="0">
              <a:buNone/>
            </a:pPr>
            <a:r>
              <a:rPr lang="en-US" sz="1000" b="1" dirty="0">
                <a:solidFill>
                  <a:srgbClr val="A78BFA"/>
                </a:solidFill>
                <a:latin typeface="Calibri" pitchFamily="34" charset="0"/>
                <a:ea typeface="Calibri" pitchFamily="34" charset="-122"/>
                <a:cs typeface="Calibri" pitchFamily="34" charset="-120"/>
              </a:rPr>
              <a:t>Salle</a:t>
            </a:r>
            <a:endParaRPr lang="en-US" sz="1000" dirty="0"/>
          </a:p>
        </p:txBody>
      </p:sp>
      <p:sp>
        <p:nvSpPr>
          <p:cNvPr id="14" name="Shape 12"/>
          <p:cNvSpPr/>
          <p:nvPr/>
        </p:nvSpPr>
        <p:spPr>
          <a:xfrm>
            <a:off x="685800" y="3035808"/>
            <a:ext cx="5943600" cy="457200"/>
          </a:xfrm>
          <a:prstGeom prst="rect">
            <a:avLst/>
          </a:prstGeom>
          <a:solidFill>
            <a:srgbClr val="1C1630"/>
          </a:solidFill>
          <a:ln/>
        </p:spPr>
      </p:sp>
      <p:sp>
        <p:nvSpPr>
          <p:cNvPr id="15" name="Text 13"/>
          <p:cNvSpPr/>
          <p:nvPr/>
        </p:nvSpPr>
        <p:spPr>
          <a:xfrm>
            <a:off x="777240" y="3108960"/>
            <a:ext cx="1005840" cy="365760"/>
          </a:xfrm>
          <a:prstGeom prst="rect">
            <a:avLst/>
          </a:prstGeom>
          <a:noFill/>
          <a:ln/>
        </p:spPr>
        <p:txBody>
          <a:bodyPr wrap="square" lIns="0" tIns="0" rIns="0" bIns="0" rtlCol="0" anchor="ctr"/>
          <a:lstStyle/>
          <a:p>
            <a:pPr marL="0" indent="0">
              <a:buNone/>
            </a:pPr>
            <a:r>
              <a:rPr lang="en-US" sz="1050" dirty="0">
                <a:solidFill>
                  <a:srgbClr val="F5F3FA"/>
                </a:solidFill>
                <a:latin typeface="Calibri" pitchFamily="34" charset="0"/>
                <a:ea typeface="Calibri" pitchFamily="34" charset="-122"/>
                <a:cs typeface="Calibri" pitchFamily="34" charset="-120"/>
              </a:rPr>
              <a:t>09h00</a:t>
            </a:r>
            <a:endParaRPr lang="en-US" sz="1050" dirty="0"/>
          </a:p>
        </p:txBody>
      </p:sp>
      <p:sp>
        <p:nvSpPr>
          <p:cNvPr id="16" name="Text 14"/>
          <p:cNvSpPr/>
          <p:nvPr/>
        </p:nvSpPr>
        <p:spPr>
          <a:xfrm>
            <a:off x="1783080" y="3108960"/>
            <a:ext cx="3383280" cy="365760"/>
          </a:xfrm>
          <a:prstGeom prst="rect">
            <a:avLst/>
          </a:prstGeom>
          <a:noFill/>
          <a:ln/>
        </p:spPr>
        <p:txBody>
          <a:bodyPr wrap="square" lIns="0" tIns="0" rIns="0" bIns="0" rtlCol="0" anchor="ctr"/>
          <a:lstStyle/>
          <a:p>
            <a:pPr marL="0" indent="0">
              <a:buNone/>
            </a:pPr>
            <a:r>
              <a:rPr lang="en-US" sz="1050" dirty="0">
                <a:solidFill>
                  <a:srgbClr val="F5F3FA"/>
                </a:solidFill>
                <a:latin typeface="Calibri" pitchFamily="34" charset="0"/>
                <a:ea typeface="Calibri" pitchFamily="34" charset="-122"/>
                <a:cs typeface="Calibri" pitchFamily="34" charset="-120"/>
              </a:rPr>
              <a:t>Keynote d'ouverture</a:t>
            </a:r>
            <a:endParaRPr lang="en-US" sz="1050" dirty="0"/>
          </a:p>
        </p:txBody>
      </p:sp>
      <p:sp>
        <p:nvSpPr>
          <p:cNvPr id="17" name="Text 15"/>
          <p:cNvSpPr/>
          <p:nvPr/>
        </p:nvSpPr>
        <p:spPr>
          <a:xfrm>
            <a:off x="5166360" y="3108960"/>
            <a:ext cx="1645920" cy="365760"/>
          </a:xfrm>
          <a:prstGeom prst="rect">
            <a:avLst/>
          </a:prstGeom>
          <a:noFill/>
          <a:ln/>
        </p:spPr>
        <p:txBody>
          <a:bodyPr wrap="square" lIns="0" tIns="0" rIns="0" bIns="0" rtlCol="0" anchor="ctr"/>
          <a:lstStyle/>
          <a:p>
            <a:pPr marL="0" indent="0">
              <a:buNone/>
            </a:pPr>
            <a:r>
              <a:rPr lang="en-US" sz="1050" dirty="0">
                <a:solidFill>
                  <a:srgbClr val="F5F3FA"/>
                </a:solidFill>
                <a:latin typeface="Calibri" pitchFamily="34" charset="0"/>
                <a:ea typeface="Calibri" pitchFamily="34" charset="-122"/>
                <a:cs typeface="Calibri" pitchFamily="34" charset="-120"/>
              </a:rPr>
              <a:t>Amphi A</a:t>
            </a:r>
            <a:endParaRPr lang="en-US" sz="1050" dirty="0"/>
          </a:p>
        </p:txBody>
      </p:sp>
      <p:sp>
        <p:nvSpPr>
          <p:cNvPr id="18" name="Text 16"/>
          <p:cNvSpPr/>
          <p:nvPr/>
        </p:nvSpPr>
        <p:spPr>
          <a:xfrm>
            <a:off x="777240" y="3840480"/>
            <a:ext cx="1005840" cy="365760"/>
          </a:xfrm>
          <a:prstGeom prst="rect">
            <a:avLst/>
          </a:prstGeom>
          <a:noFill/>
          <a:ln/>
        </p:spPr>
        <p:txBody>
          <a:bodyPr wrap="square" lIns="0" tIns="0" rIns="0" bIns="0" rtlCol="0" anchor="ctr"/>
          <a:lstStyle/>
          <a:p>
            <a:pPr marL="0" indent="0">
              <a:buNone/>
            </a:pPr>
            <a:r>
              <a:rPr lang="en-US" sz="1050" dirty="0">
                <a:solidFill>
                  <a:srgbClr val="F5F3FA"/>
                </a:solidFill>
                <a:latin typeface="Calibri" pitchFamily="34" charset="0"/>
                <a:ea typeface="Calibri" pitchFamily="34" charset="-122"/>
                <a:cs typeface="Calibri" pitchFamily="34" charset="-120"/>
              </a:rPr>
              <a:t>11h00</a:t>
            </a:r>
            <a:endParaRPr lang="en-US" sz="1050" dirty="0"/>
          </a:p>
        </p:txBody>
      </p:sp>
      <p:sp>
        <p:nvSpPr>
          <p:cNvPr id="19" name="Text 17"/>
          <p:cNvSpPr/>
          <p:nvPr/>
        </p:nvSpPr>
        <p:spPr>
          <a:xfrm>
            <a:off x="1783080" y="3840480"/>
            <a:ext cx="3383280" cy="365760"/>
          </a:xfrm>
          <a:prstGeom prst="rect">
            <a:avLst/>
          </a:prstGeom>
          <a:noFill/>
          <a:ln/>
        </p:spPr>
        <p:txBody>
          <a:bodyPr wrap="square" lIns="0" tIns="0" rIns="0" bIns="0" rtlCol="0" anchor="ctr"/>
          <a:lstStyle/>
          <a:p>
            <a:pPr marL="0" indent="0">
              <a:buNone/>
            </a:pPr>
            <a:r>
              <a:rPr lang="en-US" sz="1050" dirty="0">
                <a:solidFill>
                  <a:srgbClr val="F5F3FA"/>
                </a:solidFill>
                <a:latin typeface="Calibri" pitchFamily="34" charset="0"/>
                <a:ea typeface="Calibri" pitchFamily="34" charset="-122"/>
                <a:cs typeface="Calibri" pitchFamily="34" charset="-120"/>
              </a:rPr>
              <a:t>IA &amp; langues africaines</a:t>
            </a:r>
            <a:endParaRPr lang="en-US" sz="1050" dirty="0"/>
          </a:p>
        </p:txBody>
      </p:sp>
      <p:sp>
        <p:nvSpPr>
          <p:cNvPr id="20" name="Text 18"/>
          <p:cNvSpPr/>
          <p:nvPr/>
        </p:nvSpPr>
        <p:spPr>
          <a:xfrm>
            <a:off x="5166360" y="3840480"/>
            <a:ext cx="1645920" cy="365760"/>
          </a:xfrm>
          <a:prstGeom prst="rect">
            <a:avLst/>
          </a:prstGeom>
          <a:noFill/>
          <a:ln/>
        </p:spPr>
        <p:txBody>
          <a:bodyPr wrap="square" lIns="0" tIns="0" rIns="0" bIns="0" rtlCol="0" anchor="ctr"/>
          <a:lstStyle/>
          <a:p>
            <a:pPr marL="0" indent="0">
              <a:buNone/>
            </a:pPr>
            <a:r>
              <a:rPr lang="en-US" sz="1050" dirty="0">
                <a:solidFill>
                  <a:srgbClr val="F5F3FA"/>
                </a:solidFill>
                <a:latin typeface="Calibri" pitchFamily="34" charset="0"/>
                <a:ea typeface="Calibri" pitchFamily="34" charset="-122"/>
                <a:cs typeface="Calibri" pitchFamily="34" charset="-120"/>
              </a:rPr>
              <a:t>Salle Ubuntu</a:t>
            </a:r>
            <a:endParaRPr lang="en-US" sz="1050" dirty="0"/>
          </a:p>
        </p:txBody>
      </p:sp>
      <p:sp>
        <p:nvSpPr>
          <p:cNvPr id="21" name="Shape 19"/>
          <p:cNvSpPr/>
          <p:nvPr/>
        </p:nvSpPr>
        <p:spPr>
          <a:xfrm>
            <a:off x="685800" y="4498848"/>
            <a:ext cx="5943600" cy="457200"/>
          </a:xfrm>
          <a:prstGeom prst="rect">
            <a:avLst/>
          </a:prstGeom>
          <a:solidFill>
            <a:srgbClr val="1C1630"/>
          </a:solidFill>
          <a:ln/>
        </p:spPr>
      </p:sp>
      <p:sp>
        <p:nvSpPr>
          <p:cNvPr id="22" name="Text 20"/>
          <p:cNvSpPr/>
          <p:nvPr/>
        </p:nvSpPr>
        <p:spPr>
          <a:xfrm>
            <a:off x="777240" y="4572000"/>
            <a:ext cx="1005840" cy="365760"/>
          </a:xfrm>
          <a:prstGeom prst="rect">
            <a:avLst/>
          </a:prstGeom>
          <a:noFill/>
          <a:ln/>
        </p:spPr>
        <p:txBody>
          <a:bodyPr wrap="square" lIns="0" tIns="0" rIns="0" bIns="0" rtlCol="0" anchor="ctr"/>
          <a:lstStyle/>
          <a:p>
            <a:pPr marL="0" indent="0">
              <a:buNone/>
            </a:pPr>
            <a:r>
              <a:rPr lang="en-US" sz="1050" dirty="0">
                <a:solidFill>
                  <a:srgbClr val="F5F3FA"/>
                </a:solidFill>
                <a:latin typeface="Calibri" pitchFamily="34" charset="0"/>
                <a:ea typeface="Calibri" pitchFamily="34" charset="-122"/>
                <a:cs typeface="Calibri" pitchFamily="34" charset="-120"/>
              </a:rPr>
              <a:t>14h30</a:t>
            </a:r>
            <a:endParaRPr lang="en-US" sz="1050" dirty="0"/>
          </a:p>
        </p:txBody>
      </p:sp>
      <p:sp>
        <p:nvSpPr>
          <p:cNvPr id="23" name="Text 21"/>
          <p:cNvSpPr/>
          <p:nvPr/>
        </p:nvSpPr>
        <p:spPr>
          <a:xfrm>
            <a:off x="1783080" y="4572000"/>
            <a:ext cx="3383280" cy="365760"/>
          </a:xfrm>
          <a:prstGeom prst="rect">
            <a:avLst/>
          </a:prstGeom>
          <a:noFill/>
          <a:ln/>
        </p:spPr>
        <p:txBody>
          <a:bodyPr wrap="square" lIns="0" tIns="0" rIns="0" bIns="0" rtlCol="0" anchor="ctr"/>
          <a:lstStyle/>
          <a:p>
            <a:pPr marL="0" indent="0">
              <a:buNone/>
            </a:pPr>
            <a:r>
              <a:rPr lang="en-US" sz="1050" dirty="0">
                <a:solidFill>
                  <a:srgbClr val="F5F3FA"/>
                </a:solidFill>
                <a:latin typeface="Calibri" pitchFamily="34" charset="0"/>
                <a:ea typeface="Calibri" pitchFamily="34" charset="-122"/>
                <a:cs typeface="Calibri" pitchFamily="34" charset="-120"/>
              </a:rPr>
              <a:t>Panel investisseurs</a:t>
            </a:r>
            <a:endParaRPr lang="en-US" sz="1050" dirty="0"/>
          </a:p>
        </p:txBody>
      </p:sp>
      <p:sp>
        <p:nvSpPr>
          <p:cNvPr id="24" name="Text 22"/>
          <p:cNvSpPr/>
          <p:nvPr/>
        </p:nvSpPr>
        <p:spPr>
          <a:xfrm>
            <a:off x="5166360" y="4572000"/>
            <a:ext cx="1645920" cy="365760"/>
          </a:xfrm>
          <a:prstGeom prst="rect">
            <a:avLst/>
          </a:prstGeom>
          <a:noFill/>
          <a:ln/>
        </p:spPr>
        <p:txBody>
          <a:bodyPr wrap="square" lIns="0" tIns="0" rIns="0" bIns="0" rtlCol="0" anchor="ctr"/>
          <a:lstStyle/>
          <a:p>
            <a:pPr marL="0" indent="0">
              <a:buNone/>
            </a:pPr>
            <a:r>
              <a:rPr lang="en-US" sz="1050" dirty="0">
                <a:solidFill>
                  <a:srgbClr val="F5F3FA"/>
                </a:solidFill>
                <a:latin typeface="Calibri" pitchFamily="34" charset="0"/>
                <a:ea typeface="Calibri" pitchFamily="34" charset="-122"/>
                <a:cs typeface="Calibri" pitchFamily="34" charset="-120"/>
              </a:rPr>
              <a:t>Amphi A</a:t>
            </a:r>
            <a:endParaRPr lang="en-US" sz="1050" dirty="0"/>
          </a:p>
        </p:txBody>
      </p:sp>
      <p:sp>
        <p:nvSpPr>
          <p:cNvPr id="25" name="Shape 23"/>
          <p:cNvSpPr/>
          <p:nvPr/>
        </p:nvSpPr>
        <p:spPr>
          <a:xfrm>
            <a:off x="7040880" y="2606040"/>
            <a:ext cx="502920" cy="502920"/>
          </a:xfrm>
          <a:prstGeom prst="ellipse">
            <a:avLst/>
          </a:prstGeom>
          <a:solidFill>
            <a:srgbClr val="8B5CF6">
              <a:alpha val="18000"/>
            </a:srgbClr>
          </a:solidFill>
          <a:ln/>
        </p:spPr>
      </p:sp>
      <p:pic>
        <p:nvPicPr>
          <p:cNvPr id="26" name="Image 0" descr="/home/claude/pptx_project/icons/calendar_FFFFFF.png"/>
          <p:cNvPicPr>
            <a:picLocks noChangeAspect="1"/>
          </p:cNvPicPr>
          <p:nvPr/>
        </p:nvPicPr>
        <p:blipFill>
          <a:blip r:embed="rId3"/>
          <a:stretch>
            <a:fillRect/>
          </a:stretch>
        </p:blipFill>
        <p:spPr>
          <a:xfrm>
            <a:off x="7161581" y="2726741"/>
            <a:ext cx="261518" cy="261518"/>
          </a:xfrm>
          <a:prstGeom prst="rect">
            <a:avLst/>
          </a:prstGeom>
        </p:spPr>
      </p:pic>
      <p:sp>
        <p:nvSpPr>
          <p:cNvPr id="27" name="Text 24"/>
          <p:cNvSpPr/>
          <p:nvPr/>
        </p:nvSpPr>
        <p:spPr>
          <a:xfrm>
            <a:off x="7680960" y="2587752"/>
            <a:ext cx="3840480" cy="292608"/>
          </a:xfrm>
          <a:prstGeom prst="rect">
            <a:avLst/>
          </a:prstGeom>
          <a:noFill/>
          <a:ln/>
        </p:spPr>
        <p:txBody>
          <a:bodyPr wrap="square" lIns="0" tIns="0" rIns="0" bIns="0" rtlCol="0" anchor="ctr"/>
          <a:lstStyle/>
          <a:p>
            <a:pPr marL="0" indent="0">
              <a:buNone/>
            </a:pPr>
            <a:r>
              <a:rPr lang="en-US" sz="1350" b="1" dirty="0">
                <a:solidFill>
                  <a:srgbClr val="F5F3FA"/>
                </a:solidFill>
                <a:latin typeface="Calibri" pitchFamily="34" charset="0"/>
                <a:ea typeface="Calibri" pitchFamily="34" charset="-122"/>
                <a:cs typeface="Calibri" pitchFamily="34" charset="-120"/>
              </a:rPr>
              <a:t>Tableau stylisé</a:t>
            </a:r>
            <a:endParaRPr lang="en-US" sz="1350" dirty="0"/>
          </a:p>
        </p:txBody>
      </p:sp>
      <p:sp>
        <p:nvSpPr>
          <p:cNvPr id="28" name="Text 25"/>
          <p:cNvSpPr/>
          <p:nvPr/>
        </p:nvSpPr>
        <p:spPr>
          <a:xfrm>
            <a:off x="7680960" y="2880360"/>
            <a:ext cx="3840480" cy="457200"/>
          </a:xfrm>
          <a:prstGeom prst="rect">
            <a:avLst/>
          </a:prstGeom>
          <a:noFill/>
          <a:ln/>
        </p:spPr>
        <p:txBody>
          <a:bodyPr wrap="square" lIns="0" tIns="0" rIns="0" bIns="0" rtlCol="0" anchor="ctr"/>
          <a:lstStyle/>
          <a:p>
            <a:pPr marL="0" indent="0">
              <a:lnSpc>
                <a:spcPct val="120000"/>
              </a:lnSpc>
              <a:buNone/>
            </a:pPr>
            <a:r>
              <a:rPr lang="en-US" sz="1100" dirty="0">
                <a:solidFill>
                  <a:srgbClr val="9A94B3"/>
                </a:solidFill>
                <a:latin typeface="Calibri" pitchFamily="34" charset="0"/>
                <a:ea typeface="Calibri" pitchFamily="34" charset="-122"/>
                <a:cs typeface="Calibri" pitchFamily="34" charset="-120"/>
              </a:rPr>
              <a:t>5 sessions min./jour, alternance de couleurs</a:t>
            </a:r>
            <a:endParaRPr lang="en-US" sz="1100" dirty="0"/>
          </a:p>
        </p:txBody>
      </p:sp>
      <p:sp>
        <p:nvSpPr>
          <p:cNvPr id="29" name="Shape 26"/>
          <p:cNvSpPr/>
          <p:nvPr/>
        </p:nvSpPr>
        <p:spPr>
          <a:xfrm>
            <a:off x="7040880" y="3520440"/>
            <a:ext cx="502920" cy="502920"/>
          </a:xfrm>
          <a:prstGeom prst="ellipse">
            <a:avLst/>
          </a:prstGeom>
          <a:solidFill>
            <a:srgbClr val="8B5CF6">
              <a:alpha val="18000"/>
            </a:srgbClr>
          </a:solidFill>
          <a:ln/>
        </p:spPr>
      </p:sp>
      <p:pic>
        <p:nvPicPr>
          <p:cNvPr id="30" name="Image 1" descr="/home/claude/pptx_project/icons/sliders_FFFFFF.png"/>
          <p:cNvPicPr>
            <a:picLocks noChangeAspect="1"/>
          </p:cNvPicPr>
          <p:nvPr/>
        </p:nvPicPr>
        <p:blipFill>
          <a:blip r:embed="rId4"/>
          <a:stretch>
            <a:fillRect/>
          </a:stretch>
        </p:blipFill>
        <p:spPr>
          <a:xfrm>
            <a:off x="7161581" y="3641141"/>
            <a:ext cx="261518" cy="261518"/>
          </a:xfrm>
          <a:prstGeom prst="rect">
            <a:avLst/>
          </a:prstGeom>
        </p:spPr>
      </p:pic>
      <p:sp>
        <p:nvSpPr>
          <p:cNvPr id="31" name="Text 27"/>
          <p:cNvSpPr/>
          <p:nvPr/>
        </p:nvSpPr>
        <p:spPr>
          <a:xfrm>
            <a:off x="7680960" y="3502152"/>
            <a:ext cx="3840480" cy="292608"/>
          </a:xfrm>
          <a:prstGeom prst="rect">
            <a:avLst/>
          </a:prstGeom>
          <a:noFill/>
          <a:ln/>
        </p:spPr>
        <p:txBody>
          <a:bodyPr wrap="square" lIns="0" tIns="0" rIns="0" bIns="0" rtlCol="0" anchor="ctr"/>
          <a:lstStyle/>
          <a:p>
            <a:pPr marL="0" indent="0">
              <a:buNone/>
            </a:pPr>
            <a:r>
              <a:rPr lang="en-US" sz="1350" b="1" dirty="0">
                <a:solidFill>
                  <a:srgbClr val="F5F3FA"/>
                </a:solidFill>
                <a:latin typeface="Calibri" pitchFamily="34" charset="0"/>
                <a:ea typeface="Calibri" pitchFamily="34" charset="-122"/>
                <a:cs typeface="Calibri" pitchFamily="34" charset="-120"/>
              </a:rPr>
              <a:t>JS sans rechargement</a:t>
            </a:r>
            <a:endParaRPr lang="en-US" sz="1350" dirty="0"/>
          </a:p>
        </p:txBody>
      </p:sp>
      <p:sp>
        <p:nvSpPr>
          <p:cNvPr id="32" name="Text 28"/>
          <p:cNvSpPr/>
          <p:nvPr/>
        </p:nvSpPr>
        <p:spPr>
          <a:xfrm>
            <a:off x="7680960" y="3794760"/>
            <a:ext cx="3840480" cy="457200"/>
          </a:xfrm>
          <a:prstGeom prst="rect">
            <a:avLst/>
          </a:prstGeom>
          <a:noFill/>
          <a:ln/>
        </p:spPr>
        <p:txBody>
          <a:bodyPr wrap="square" lIns="0" tIns="0" rIns="0" bIns="0" rtlCol="0" anchor="ctr"/>
          <a:lstStyle/>
          <a:p>
            <a:pPr marL="0" indent="0">
              <a:lnSpc>
                <a:spcPct val="120000"/>
              </a:lnSpc>
              <a:buNone/>
            </a:pPr>
            <a:r>
              <a:rPr lang="en-US" sz="1100" dirty="0">
                <a:solidFill>
                  <a:srgbClr val="9A94B3"/>
                </a:solidFill>
                <a:latin typeface="Calibri" pitchFamily="34" charset="0"/>
                <a:ea typeface="Calibri" pitchFamily="34" charset="-122"/>
                <a:cs typeface="Calibri" pitchFamily="34" charset="-120"/>
              </a:rPr>
              <a:t>Affichage/masquage instantané des panneaux</a:t>
            </a:r>
            <a:endParaRPr lang="en-US" sz="1100" dirty="0"/>
          </a:p>
        </p:txBody>
      </p:sp>
      <p:sp>
        <p:nvSpPr>
          <p:cNvPr id="33" name="Shape 29"/>
          <p:cNvSpPr/>
          <p:nvPr/>
        </p:nvSpPr>
        <p:spPr>
          <a:xfrm>
            <a:off x="7040880" y="4434840"/>
            <a:ext cx="502920" cy="502920"/>
          </a:xfrm>
          <a:prstGeom prst="ellipse">
            <a:avLst/>
          </a:prstGeom>
          <a:solidFill>
            <a:srgbClr val="8B5CF6">
              <a:alpha val="18000"/>
            </a:srgbClr>
          </a:solidFill>
          <a:ln/>
        </p:spPr>
      </p:sp>
      <p:pic>
        <p:nvPicPr>
          <p:cNvPr id="34" name="Image 2" descr="/home/claude/pptx_project/icons/layout_FFFFFF.png"/>
          <p:cNvPicPr>
            <a:picLocks noChangeAspect="1"/>
          </p:cNvPicPr>
          <p:nvPr/>
        </p:nvPicPr>
        <p:blipFill>
          <a:blip r:embed="rId5"/>
          <a:stretch>
            <a:fillRect/>
          </a:stretch>
        </p:blipFill>
        <p:spPr>
          <a:xfrm>
            <a:off x="7161581" y="4555541"/>
            <a:ext cx="261518" cy="261518"/>
          </a:xfrm>
          <a:prstGeom prst="rect">
            <a:avLst/>
          </a:prstGeom>
        </p:spPr>
      </p:pic>
      <p:sp>
        <p:nvSpPr>
          <p:cNvPr id="35" name="Text 30"/>
          <p:cNvSpPr/>
          <p:nvPr/>
        </p:nvSpPr>
        <p:spPr>
          <a:xfrm>
            <a:off x="7680960" y="4416552"/>
            <a:ext cx="3840480" cy="292608"/>
          </a:xfrm>
          <a:prstGeom prst="rect">
            <a:avLst/>
          </a:prstGeom>
          <a:noFill/>
          <a:ln/>
        </p:spPr>
        <p:txBody>
          <a:bodyPr wrap="square" lIns="0" tIns="0" rIns="0" bIns="0" rtlCol="0" anchor="ctr"/>
          <a:lstStyle/>
          <a:p>
            <a:pPr marL="0" indent="0">
              <a:buNone/>
            </a:pPr>
            <a:r>
              <a:rPr lang="en-US" sz="1350" b="1" dirty="0">
                <a:solidFill>
                  <a:srgbClr val="F5F3FA"/>
                </a:solidFill>
                <a:latin typeface="Calibri" pitchFamily="34" charset="0"/>
                <a:ea typeface="Calibri" pitchFamily="34" charset="-122"/>
                <a:cs typeface="Calibri" pitchFamily="34" charset="-120"/>
              </a:rPr>
              <a:t>Grille des thématiques</a:t>
            </a:r>
            <a:endParaRPr lang="en-US" sz="1350" dirty="0"/>
          </a:p>
        </p:txBody>
      </p:sp>
      <p:sp>
        <p:nvSpPr>
          <p:cNvPr id="36" name="Text 31"/>
          <p:cNvSpPr/>
          <p:nvPr/>
        </p:nvSpPr>
        <p:spPr>
          <a:xfrm>
            <a:off x="7680960" y="4709160"/>
            <a:ext cx="3840480" cy="457200"/>
          </a:xfrm>
          <a:prstGeom prst="rect">
            <a:avLst/>
          </a:prstGeom>
          <a:noFill/>
          <a:ln/>
        </p:spPr>
        <p:txBody>
          <a:bodyPr wrap="square" lIns="0" tIns="0" rIns="0" bIns="0" rtlCol="0" anchor="ctr"/>
          <a:lstStyle/>
          <a:p>
            <a:pPr marL="0" indent="0">
              <a:lnSpc>
                <a:spcPct val="120000"/>
              </a:lnSpc>
              <a:buNone/>
            </a:pPr>
            <a:r>
              <a:rPr lang="en-US" sz="1100" dirty="0">
                <a:solidFill>
                  <a:srgbClr val="9A94B3"/>
                </a:solidFill>
                <a:latin typeface="Calibri" pitchFamily="34" charset="0"/>
                <a:ea typeface="Calibri" pitchFamily="34" charset="-122"/>
                <a:cs typeface="Calibri" pitchFamily="34" charset="-120"/>
              </a:rPr>
              <a:t>4 axes en CSS Grid 2×2, animés au scroll</a:t>
            </a:r>
            <a:endParaRPr lang="en-US" sz="1100" dirty="0"/>
          </a:p>
        </p:txBody>
      </p:sp>
      <p:sp>
        <p:nvSpPr>
          <p:cNvPr id="37" name="Text 32"/>
          <p:cNvSpPr/>
          <p:nvPr/>
        </p:nvSpPr>
        <p:spPr>
          <a:xfrm>
            <a:off x="457200" y="6537960"/>
            <a:ext cx="5486400" cy="274320"/>
          </a:xfrm>
          <a:prstGeom prst="rect">
            <a:avLst/>
          </a:prstGeom>
          <a:noFill/>
          <a:ln/>
        </p:spPr>
        <p:txBody>
          <a:bodyPr wrap="square" lIns="0" tIns="0" rIns="0" bIns="0" rtlCol="0" anchor="ctr"/>
          <a:lstStyle/>
          <a:p>
            <a:pPr marL="0" indent="0">
              <a:buNone/>
            </a:pPr>
            <a:r>
              <a:rPr lang="en-US" sz="1000" dirty="0">
                <a:solidFill>
                  <a:srgbClr val="9A94B3"/>
                </a:solidFill>
                <a:latin typeface="Calibri" pitchFamily="34" charset="0"/>
                <a:ea typeface="Calibri" pitchFamily="34" charset="-122"/>
                <a:cs typeface="Calibri" pitchFamily="34" charset="-120"/>
              </a:rPr>
              <a:t>AfriConnect Summit 2026 — Projet Web L1</a:t>
            </a:r>
            <a:endParaRPr lang="en-US" sz="1000" dirty="0"/>
          </a:p>
        </p:txBody>
      </p:sp>
      <p:sp>
        <p:nvSpPr>
          <p:cNvPr id="38" name="Text 33"/>
          <p:cNvSpPr/>
          <p:nvPr/>
        </p:nvSpPr>
        <p:spPr>
          <a:xfrm>
            <a:off x="11338560" y="6537960"/>
            <a:ext cx="457200" cy="274320"/>
          </a:xfrm>
          <a:prstGeom prst="rect">
            <a:avLst/>
          </a:prstGeom>
          <a:noFill/>
          <a:ln/>
        </p:spPr>
        <p:txBody>
          <a:bodyPr wrap="square" lIns="0" tIns="0" rIns="0" bIns="0" rtlCol="0" anchor="ctr"/>
          <a:lstStyle/>
          <a:p>
            <a:pPr marL="0" indent="0" algn="r">
              <a:buNone/>
            </a:pPr>
            <a:r>
              <a:rPr lang="en-US" sz="1000" dirty="0">
                <a:solidFill>
                  <a:srgbClr val="9A94B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714"/>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buNone/>
            </a:pPr>
            <a:r>
              <a:rPr lang="en-US" sz="1200" b="1" kern="0" spc="200" dirty="0">
                <a:solidFill>
                  <a:srgbClr val="A78BFA"/>
                </a:solidFill>
                <a:latin typeface="Calibri" pitchFamily="34" charset="0"/>
                <a:ea typeface="Calibri" pitchFamily="34" charset="-122"/>
                <a:cs typeface="Calibri" pitchFamily="34" charset="-120"/>
              </a:rPr>
              <a:t>PAGE 3 · INTERVENANTS</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marL="0" indent="0">
              <a:buNone/>
            </a:pPr>
            <a:r>
              <a:rPr lang="en-US" sz="2600" b="1" dirty="0">
                <a:solidFill>
                  <a:srgbClr val="F5F3FA"/>
                </a:solidFill>
                <a:latin typeface="Calibri" pitchFamily="34" charset="0"/>
                <a:ea typeface="Calibri" pitchFamily="34" charset="-122"/>
                <a:cs typeface="Calibri" pitchFamily="34" charset="-120"/>
              </a:rPr>
              <a:t>Filtrer 9 intervenants par thématique, en direct</a:t>
            </a:r>
            <a:endParaRPr lang="en-US" sz="2600" dirty="0"/>
          </a:p>
        </p:txBody>
      </p:sp>
      <p:sp>
        <p:nvSpPr>
          <p:cNvPr id="4" name="Shape 2"/>
          <p:cNvSpPr/>
          <p:nvPr/>
        </p:nvSpPr>
        <p:spPr>
          <a:xfrm>
            <a:off x="640080" y="1828800"/>
            <a:ext cx="1088136" cy="457200"/>
          </a:xfrm>
          <a:prstGeom prst="roundRect">
            <a:avLst>
              <a:gd name="adj" fmla="val 50000"/>
            </a:avLst>
          </a:prstGeom>
          <a:solidFill>
            <a:srgbClr val="14101F"/>
          </a:solidFill>
          <a:ln w="12700">
            <a:solidFill>
              <a:srgbClr val="2A2440"/>
            </a:solidFill>
            <a:prstDash val="solid"/>
          </a:ln>
        </p:spPr>
      </p:sp>
      <p:sp>
        <p:nvSpPr>
          <p:cNvPr id="5" name="Text 3"/>
          <p:cNvSpPr/>
          <p:nvPr/>
        </p:nvSpPr>
        <p:spPr>
          <a:xfrm>
            <a:off x="640080" y="1828800"/>
            <a:ext cx="1088136" cy="457200"/>
          </a:xfrm>
          <a:prstGeom prst="rect">
            <a:avLst/>
          </a:prstGeom>
          <a:noFill/>
          <a:ln/>
        </p:spPr>
        <p:txBody>
          <a:bodyPr wrap="square" lIns="0" tIns="0" rIns="0" bIns="0" rtlCol="0" anchor="ctr"/>
          <a:lstStyle/>
          <a:p>
            <a:pPr marL="0" indent="0" algn="ctr">
              <a:buNone/>
            </a:pPr>
            <a:r>
              <a:rPr lang="en-US" sz="1150" dirty="0">
                <a:solidFill>
                  <a:srgbClr val="9A94B3"/>
                </a:solidFill>
                <a:latin typeface="Calibri" pitchFamily="34" charset="0"/>
                <a:ea typeface="Calibri" pitchFamily="34" charset="-122"/>
                <a:cs typeface="Calibri" pitchFamily="34" charset="-120"/>
              </a:rPr>
              <a:t>Tous</a:t>
            </a:r>
            <a:endParaRPr lang="en-US" sz="1150" dirty="0"/>
          </a:p>
        </p:txBody>
      </p:sp>
      <p:sp>
        <p:nvSpPr>
          <p:cNvPr id="6" name="Shape 4"/>
          <p:cNvSpPr/>
          <p:nvPr/>
        </p:nvSpPr>
        <p:spPr>
          <a:xfrm>
            <a:off x="1911096" y="1828800"/>
            <a:ext cx="1591056" cy="457200"/>
          </a:xfrm>
          <a:prstGeom prst="roundRect">
            <a:avLst>
              <a:gd name="adj" fmla="val 50000"/>
            </a:avLst>
          </a:prstGeom>
          <a:solidFill>
            <a:srgbClr val="8B5CF6"/>
          </a:solidFill>
          <a:ln w="12700">
            <a:solidFill>
              <a:srgbClr val="8B5CF6"/>
            </a:solidFill>
            <a:prstDash val="solid"/>
          </a:ln>
        </p:spPr>
      </p:sp>
      <p:sp>
        <p:nvSpPr>
          <p:cNvPr id="7" name="Text 5"/>
          <p:cNvSpPr/>
          <p:nvPr/>
        </p:nvSpPr>
        <p:spPr>
          <a:xfrm>
            <a:off x="1911096" y="1828800"/>
            <a:ext cx="1591056"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IA &amp; Tech</a:t>
            </a:r>
            <a:endParaRPr lang="en-US" sz="1150" dirty="0"/>
          </a:p>
        </p:txBody>
      </p:sp>
      <p:sp>
        <p:nvSpPr>
          <p:cNvPr id="8" name="Shape 6"/>
          <p:cNvSpPr/>
          <p:nvPr/>
        </p:nvSpPr>
        <p:spPr>
          <a:xfrm>
            <a:off x="3685032" y="1828800"/>
            <a:ext cx="1490472" cy="457200"/>
          </a:xfrm>
          <a:prstGeom prst="roundRect">
            <a:avLst>
              <a:gd name="adj" fmla="val 50000"/>
            </a:avLst>
          </a:prstGeom>
          <a:solidFill>
            <a:srgbClr val="14101F"/>
          </a:solidFill>
          <a:ln w="12700">
            <a:solidFill>
              <a:srgbClr val="2A2440"/>
            </a:solidFill>
            <a:prstDash val="solid"/>
          </a:ln>
        </p:spPr>
      </p:sp>
      <p:sp>
        <p:nvSpPr>
          <p:cNvPr id="9" name="Text 7"/>
          <p:cNvSpPr/>
          <p:nvPr/>
        </p:nvSpPr>
        <p:spPr>
          <a:xfrm>
            <a:off x="3685032" y="1828800"/>
            <a:ext cx="1490472" cy="457200"/>
          </a:xfrm>
          <a:prstGeom prst="rect">
            <a:avLst/>
          </a:prstGeom>
          <a:noFill/>
          <a:ln/>
        </p:spPr>
        <p:txBody>
          <a:bodyPr wrap="square" lIns="0" tIns="0" rIns="0" bIns="0" rtlCol="0" anchor="ctr"/>
          <a:lstStyle/>
          <a:p>
            <a:pPr marL="0" indent="0" algn="ctr">
              <a:buNone/>
            </a:pPr>
            <a:r>
              <a:rPr lang="en-US" sz="1150" dirty="0">
                <a:solidFill>
                  <a:srgbClr val="9A94B3"/>
                </a:solidFill>
                <a:latin typeface="Calibri" pitchFamily="34" charset="0"/>
                <a:ea typeface="Calibri" pitchFamily="34" charset="-122"/>
                <a:cs typeface="Calibri" pitchFamily="34" charset="-120"/>
              </a:rPr>
              <a:t>Business</a:t>
            </a:r>
            <a:endParaRPr lang="en-US" sz="1150" dirty="0"/>
          </a:p>
        </p:txBody>
      </p:sp>
      <p:sp>
        <p:nvSpPr>
          <p:cNvPr id="10" name="Shape 8"/>
          <p:cNvSpPr/>
          <p:nvPr/>
        </p:nvSpPr>
        <p:spPr>
          <a:xfrm>
            <a:off x="5358384" y="1828800"/>
            <a:ext cx="1289304" cy="457200"/>
          </a:xfrm>
          <a:prstGeom prst="roundRect">
            <a:avLst>
              <a:gd name="adj" fmla="val 50000"/>
            </a:avLst>
          </a:prstGeom>
          <a:solidFill>
            <a:srgbClr val="14101F"/>
          </a:solidFill>
          <a:ln w="12700">
            <a:solidFill>
              <a:srgbClr val="2A2440"/>
            </a:solidFill>
            <a:prstDash val="solid"/>
          </a:ln>
        </p:spPr>
      </p:sp>
      <p:sp>
        <p:nvSpPr>
          <p:cNvPr id="11" name="Text 9"/>
          <p:cNvSpPr/>
          <p:nvPr/>
        </p:nvSpPr>
        <p:spPr>
          <a:xfrm>
            <a:off x="5358384" y="1828800"/>
            <a:ext cx="1289304" cy="457200"/>
          </a:xfrm>
          <a:prstGeom prst="rect">
            <a:avLst/>
          </a:prstGeom>
          <a:noFill/>
          <a:ln/>
        </p:spPr>
        <p:txBody>
          <a:bodyPr wrap="square" lIns="0" tIns="0" rIns="0" bIns="0" rtlCol="0" anchor="ctr"/>
          <a:lstStyle/>
          <a:p>
            <a:pPr marL="0" indent="0" algn="ctr">
              <a:buNone/>
            </a:pPr>
            <a:r>
              <a:rPr lang="en-US" sz="1150" dirty="0">
                <a:solidFill>
                  <a:srgbClr val="9A94B3"/>
                </a:solidFill>
                <a:latin typeface="Calibri" pitchFamily="34" charset="0"/>
                <a:ea typeface="Calibri" pitchFamily="34" charset="-122"/>
                <a:cs typeface="Calibri" pitchFamily="34" charset="-120"/>
              </a:rPr>
              <a:t>Design</a:t>
            </a:r>
            <a:endParaRPr lang="en-US" sz="1150" dirty="0"/>
          </a:p>
        </p:txBody>
      </p:sp>
      <p:sp>
        <p:nvSpPr>
          <p:cNvPr id="12" name="Shape 10"/>
          <p:cNvSpPr/>
          <p:nvPr/>
        </p:nvSpPr>
        <p:spPr>
          <a:xfrm>
            <a:off x="6830568" y="1828800"/>
            <a:ext cx="1088136" cy="457200"/>
          </a:xfrm>
          <a:prstGeom prst="roundRect">
            <a:avLst>
              <a:gd name="adj" fmla="val 50000"/>
            </a:avLst>
          </a:prstGeom>
          <a:solidFill>
            <a:srgbClr val="14101F"/>
          </a:solidFill>
          <a:ln w="12700">
            <a:solidFill>
              <a:srgbClr val="2A2440"/>
            </a:solidFill>
            <a:prstDash val="solid"/>
          </a:ln>
        </p:spPr>
      </p:sp>
      <p:sp>
        <p:nvSpPr>
          <p:cNvPr id="13" name="Text 11"/>
          <p:cNvSpPr/>
          <p:nvPr/>
        </p:nvSpPr>
        <p:spPr>
          <a:xfrm>
            <a:off x="6830568" y="1828800"/>
            <a:ext cx="1088136" cy="457200"/>
          </a:xfrm>
          <a:prstGeom prst="rect">
            <a:avLst/>
          </a:prstGeom>
          <a:noFill/>
          <a:ln/>
        </p:spPr>
        <p:txBody>
          <a:bodyPr wrap="square" lIns="0" tIns="0" rIns="0" bIns="0" rtlCol="0" anchor="ctr"/>
          <a:lstStyle/>
          <a:p>
            <a:pPr marL="0" indent="0" algn="ctr">
              <a:buNone/>
            </a:pPr>
            <a:r>
              <a:rPr lang="en-US" sz="1150" dirty="0">
                <a:solidFill>
                  <a:srgbClr val="9A94B3"/>
                </a:solidFill>
                <a:latin typeface="Calibri" pitchFamily="34" charset="0"/>
                <a:ea typeface="Calibri" pitchFamily="34" charset="-122"/>
                <a:cs typeface="Calibri" pitchFamily="34" charset="-120"/>
              </a:rPr>
              <a:t>Data</a:t>
            </a:r>
            <a:endParaRPr lang="en-US" sz="1150" dirty="0"/>
          </a:p>
        </p:txBody>
      </p:sp>
      <p:sp>
        <p:nvSpPr>
          <p:cNvPr id="14" name="Shape 12"/>
          <p:cNvSpPr/>
          <p:nvPr/>
        </p:nvSpPr>
        <p:spPr>
          <a:xfrm>
            <a:off x="640080" y="2606040"/>
            <a:ext cx="2331720" cy="1691640"/>
          </a:xfrm>
          <a:prstGeom prst="roundRect">
            <a:avLst>
              <a:gd name="adj" fmla="val 5405"/>
            </a:avLst>
          </a:prstGeom>
          <a:solidFill>
            <a:srgbClr val="14101F"/>
          </a:solidFill>
          <a:ln w="12700">
            <a:solidFill>
              <a:srgbClr val="2A2440"/>
            </a:solidFill>
            <a:prstDash val="solid"/>
          </a:ln>
        </p:spPr>
      </p:sp>
      <p:sp>
        <p:nvSpPr>
          <p:cNvPr id="15" name="Shape 13"/>
          <p:cNvSpPr/>
          <p:nvPr/>
        </p:nvSpPr>
        <p:spPr>
          <a:xfrm>
            <a:off x="804672" y="2770632"/>
            <a:ext cx="2002536" cy="822960"/>
          </a:xfrm>
          <a:prstGeom prst="roundRect">
            <a:avLst>
              <a:gd name="adj" fmla="val 6667"/>
            </a:avLst>
          </a:prstGeom>
          <a:solidFill>
            <a:srgbClr val="1C1630"/>
          </a:solidFill>
          <a:ln/>
        </p:spPr>
      </p:sp>
      <p:sp>
        <p:nvSpPr>
          <p:cNvPr id="16" name="Text 14"/>
          <p:cNvSpPr/>
          <p:nvPr/>
        </p:nvSpPr>
        <p:spPr>
          <a:xfrm>
            <a:off x="804672" y="3685032"/>
            <a:ext cx="2002536" cy="274320"/>
          </a:xfrm>
          <a:prstGeom prst="rect">
            <a:avLst/>
          </a:prstGeom>
          <a:noFill/>
          <a:ln/>
        </p:spPr>
        <p:txBody>
          <a:bodyPr wrap="square" lIns="0" tIns="0" rIns="0" bIns="0" rtlCol="0" anchor="ctr"/>
          <a:lstStyle/>
          <a:p>
            <a:pPr marL="0" indent="0">
              <a:buNone/>
            </a:pPr>
            <a:r>
              <a:rPr lang="en-US" sz="1100" b="1" dirty="0">
                <a:solidFill>
                  <a:srgbClr val="F5F3FA"/>
                </a:solidFill>
                <a:latin typeface="Calibri" pitchFamily="34" charset="0"/>
                <a:ea typeface="Calibri" pitchFamily="34" charset="-122"/>
                <a:cs typeface="Calibri" pitchFamily="34" charset="-120"/>
              </a:rPr>
              <a:t>Intervenant</a:t>
            </a:r>
            <a:endParaRPr lang="en-US" sz="1100" dirty="0"/>
          </a:p>
        </p:txBody>
      </p:sp>
      <p:sp>
        <p:nvSpPr>
          <p:cNvPr id="17" name="Text 15"/>
          <p:cNvSpPr/>
          <p:nvPr/>
        </p:nvSpPr>
        <p:spPr>
          <a:xfrm>
            <a:off x="804672" y="3959352"/>
            <a:ext cx="2002536" cy="274320"/>
          </a:xfrm>
          <a:prstGeom prst="rect">
            <a:avLst/>
          </a:prstGeom>
          <a:noFill/>
          <a:ln/>
        </p:spPr>
        <p:txBody>
          <a:bodyPr wrap="square" lIns="0" tIns="0" rIns="0" bIns="0" rtlCol="0" anchor="ctr"/>
          <a:lstStyle/>
          <a:p>
            <a:pPr marL="0" indent="0">
              <a:buNone/>
            </a:pPr>
            <a:r>
              <a:rPr lang="en-US" sz="950" dirty="0">
                <a:solidFill>
                  <a:srgbClr val="9A94B3"/>
                </a:solidFill>
                <a:latin typeface="Calibri" pitchFamily="34" charset="0"/>
                <a:ea typeface="Calibri" pitchFamily="34" charset="-122"/>
                <a:cs typeface="Calibri" pitchFamily="34" charset="-120"/>
              </a:rPr>
              <a:t>Spécialité · Pays</a:t>
            </a:r>
            <a:endParaRPr lang="en-US" sz="950" dirty="0"/>
          </a:p>
        </p:txBody>
      </p:sp>
      <p:sp>
        <p:nvSpPr>
          <p:cNvPr id="18" name="Shape 16"/>
          <p:cNvSpPr/>
          <p:nvPr/>
        </p:nvSpPr>
        <p:spPr>
          <a:xfrm>
            <a:off x="3227832" y="2606040"/>
            <a:ext cx="2331720" cy="1691640"/>
          </a:xfrm>
          <a:prstGeom prst="roundRect">
            <a:avLst>
              <a:gd name="adj" fmla="val 5405"/>
            </a:avLst>
          </a:prstGeom>
          <a:solidFill>
            <a:srgbClr val="14101F"/>
          </a:solidFill>
          <a:ln w="19050">
            <a:solidFill>
              <a:srgbClr val="8B5CF6"/>
            </a:solidFill>
            <a:prstDash val="solid"/>
          </a:ln>
        </p:spPr>
      </p:sp>
      <p:sp>
        <p:nvSpPr>
          <p:cNvPr id="19" name="Shape 17"/>
          <p:cNvSpPr/>
          <p:nvPr/>
        </p:nvSpPr>
        <p:spPr>
          <a:xfrm>
            <a:off x="3392424" y="2770632"/>
            <a:ext cx="2002536" cy="822960"/>
          </a:xfrm>
          <a:prstGeom prst="roundRect">
            <a:avLst>
              <a:gd name="adj" fmla="val 6667"/>
            </a:avLst>
          </a:prstGeom>
          <a:solidFill>
            <a:srgbClr val="1C1630"/>
          </a:solidFill>
          <a:ln/>
        </p:spPr>
      </p:sp>
      <p:sp>
        <p:nvSpPr>
          <p:cNvPr id="20" name="Text 18"/>
          <p:cNvSpPr/>
          <p:nvPr/>
        </p:nvSpPr>
        <p:spPr>
          <a:xfrm>
            <a:off x="3392424" y="3685032"/>
            <a:ext cx="2002536" cy="274320"/>
          </a:xfrm>
          <a:prstGeom prst="rect">
            <a:avLst/>
          </a:prstGeom>
          <a:noFill/>
          <a:ln/>
        </p:spPr>
        <p:txBody>
          <a:bodyPr wrap="square" lIns="0" tIns="0" rIns="0" bIns="0" rtlCol="0" anchor="ctr"/>
          <a:lstStyle/>
          <a:p>
            <a:pPr marL="0" indent="0">
              <a:buNone/>
            </a:pPr>
            <a:r>
              <a:rPr lang="en-US" sz="1100" b="1" dirty="0">
                <a:solidFill>
                  <a:srgbClr val="F5F3FA"/>
                </a:solidFill>
                <a:latin typeface="Calibri" pitchFamily="34" charset="0"/>
                <a:ea typeface="Calibri" pitchFamily="34" charset="-122"/>
                <a:cs typeface="Calibri" pitchFamily="34" charset="-120"/>
              </a:rPr>
              <a:t>Intervenant</a:t>
            </a:r>
            <a:endParaRPr lang="en-US" sz="1100" dirty="0"/>
          </a:p>
        </p:txBody>
      </p:sp>
      <p:sp>
        <p:nvSpPr>
          <p:cNvPr id="21" name="Text 19"/>
          <p:cNvSpPr/>
          <p:nvPr/>
        </p:nvSpPr>
        <p:spPr>
          <a:xfrm>
            <a:off x="3392424" y="3959352"/>
            <a:ext cx="2002536" cy="274320"/>
          </a:xfrm>
          <a:prstGeom prst="rect">
            <a:avLst/>
          </a:prstGeom>
          <a:noFill/>
          <a:ln/>
        </p:spPr>
        <p:txBody>
          <a:bodyPr wrap="square" lIns="0" tIns="0" rIns="0" bIns="0" rtlCol="0" anchor="ctr"/>
          <a:lstStyle/>
          <a:p>
            <a:pPr marL="0" indent="0">
              <a:buNone/>
            </a:pPr>
            <a:r>
              <a:rPr lang="en-US" sz="950" dirty="0">
                <a:solidFill>
                  <a:srgbClr val="9A94B3"/>
                </a:solidFill>
                <a:latin typeface="Calibri" pitchFamily="34" charset="0"/>
                <a:ea typeface="Calibri" pitchFamily="34" charset="-122"/>
                <a:cs typeface="Calibri" pitchFamily="34" charset="-120"/>
              </a:rPr>
              <a:t>Spécialité · Pays</a:t>
            </a:r>
            <a:endParaRPr lang="en-US" sz="950" dirty="0"/>
          </a:p>
        </p:txBody>
      </p:sp>
      <p:sp>
        <p:nvSpPr>
          <p:cNvPr id="22" name="Shape 20"/>
          <p:cNvSpPr/>
          <p:nvPr/>
        </p:nvSpPr>
        <p:spPr>
          <a:xfrm>
            <a:off x="5815584" y="2606040"/>
            <a:ext cx="2331720" cy="1691640"/>
          </a:xfrm>
          <a:prstGeom prst="roundRect">
            <a:avLst>
              <a:gd name="adj" fmla="val 5405"/>
            </a:avLst>
          </a:prstGeom>
          <a:solidFill>
            <a:srgbClr val="14101F"/>
          </a:solidFill>
          <a:ln w="12700">
            <a:solidFill>
              <a:srgbClr val="2A2440"/>
            </a:solidFill>
            <a:prstDash val="solid"/>
          </a:ln>
        </p:spPr>
      </p:sp>
      <p:sp>
        <p:nvSpPr>
          <p:cNvPr id="23" name="Shape 21"/>
          <p:cNvSpPr/>
          <p:nvPr/>
        </p:nvSpPr>
        <p:spPr>
          <a:xfrm>
            <a:off x="5980176" y="2770632"/>
            <a:ext cx="2002536" cy="822960"/>
          </a:xfrm>
          <a:prstGeom prst="roundRect">
            <a:avLst>
              <a:gd name="adj" fmla="val 6667"/>
            </a:avLst>
          </a:prstGeom>
          <a:solidFill>
            <a:srgbClr val="1C1630"/>
          </a:solidFill>
          <a:ln/>
        </p:spPr>
      </p:sp>
      <p:sp>
        <p:nvSpPr>
          <p:cNvPr id="24" name="Text 22"/>
          <p:cNvSpPr/>
          <p:nvPr/>
        </p:nvSpPr>
        <p:spPr>
          <a:xfrm>
            <a:off x="5980176" y="3685032"/>
            <a:ext cx="2002536" cy="274320"/>
          </a:xfrm>
          <a:prstGeom prst="rect">
            <a:avLst/>
          </a:prstGeom>
          <a:noFill/>
          <a:ln/>
        </p:spPr>
        <p:txBody>
          <a:bodyPr wrap="square" lIns="0" tIns="0" rIns="0" bIns="0" rtlCol="0" anchor="ctr"/>
          <a:lstStyle/>
          <a:p>
            <a:pPr marL="0" indent="0">
              <a:buNone/>
            </a:pPr>
            <a:r>
              <a:rPr lang="en-US" sz="1100" b="1" dirty="0">
                <a:solidFill>
                  <a:srgbClr val="F5F3FA"/>
                </a:solidFill>
                <a:latin typeface="Calibri" pitchFamily="34" charset="0"/>
                <a:ea typeface="Calibri" pitchFamily="34" charset="-122"/>
                <a:cs typeface="Calibri" pitchFamily="34" charset="-120"/>
              </a:rPr>
              <a:t>Intervenant</a:t>
            </a:r>
            <a:endParaRPr lang="en-US" sz="1100" dirty="0"/>
          </a:p>
        </p:txBody>
      </p:sp>
      <p:sp>
        <p:nvSpPr>
          <p:cNvPr id="25" name="Text 23"/>
          <p:cNvSpPr/>
          <p:nvPr/>
        </p:nvSpPr>
        <p:spPr>
          <a:xfrm>
            <a:off x="5980176" y="3959352"/>
            <a:ext cx="2002536" cy="274320"/>
          </a:xfrm>
          <a:prstGeom prst="rect">
            <a:avLst/>
          </a:prstGeom>
          <a:noFill/>
          <a:ln/>
        </p:spPr>
        <p:txBody>
          <a:bodyPr wrap="square" lIns="0" tIns="0" rIns="0" bIns="0" rtlCol="0" anchor="ctr"/>
          <a:lstStyle/>
          <a:p>
            <a:pPr marL="0" indent="0">
              <a:buNone/>
            </a:pPr>
            <a:r>
              <a:rPr lang="en-US" sz="950" dirty="0">
                <a:solidFill>
                  <a:srgbClr val="9A94B3"/>
                </a:solidFill>
                <a:latin typeface="Calibri" pitchFamily="34" charset="0"/>
                <a:ea typeface="Calibri" pitchFamily="34" charset="-122"/>
                <a:cs typeface="Calibri" pitchFamily="34" charset="-120"/>
              </a:rPr>
              <a:t>Spécialité · Pays</a:t>
            </a:r>
            <a:endParaRPr lang="en-US" sz="950" dirty="0"/>
          </a:p>
        </p:txBody>
      </p:sp>
      <p:sp>
        <p:nvSpPr>
          <p:cNvPr id="26" name="Shape 24"/>
          <p:cNvSpPr/>
          <p:nvPr/>
        </p:nvSpPr>
        <p:spPr>
          <a:xfrm>
            <a:off x="640080" y="4526280"/>
            <a:ext cx="2331720" cy="1691640"/>
          </a:xfrm>
          <a:prstGeom prst="roundRect">
            <a:avLst>
              <a:gd name="adj" fmla="val 5405"/>
            </a:avLst>
          </a:prstGeom>
          <a:solidFill>
            <a:srgbClr val="14101F"/>
          </a:solidFill>
          <a:ln w="12700">
            <a:solidFill>
              <a:srgbClr val="2A2440"/>
            </a:solidFill>
            <a:prstDash val="solid"/>
          </a:ln>
        </p:spPr>
      </p:sp>
      <p:sp>
        <p:nvSpPr>
          <p:cNvPr id="27" name="Shape 25"/>
          <p:cNvSpPr/>
          <p:nvPr/>
        </p:nvSpPr>
        <p:spPr>
          <a:xfrm>
            <a:off x="804672" y="4690872"/>
            <a:ext cx="2002536" cy="822960"/>
          </a:xfrm>
          <a:prstGeom prst="roundRect">
            <a:avLst>
              <a:gd name="adj" fmla="val 6667"/>
            </a:avLst>
          </a:prstGeom>
          <a:solidFill>
            <a:srgbClr val="1C1630"/>
          </a:solidFill>
          <a:ln/>
        </p:spPr>
      </p:sp>
      <p:sp>
        <p:nvSpPr>
          <p:cNvPr id="28" name="Text 26"/>
          <p:cNvSpPr/>
          <p:nvPr/>
        </p:nvSpPr>
        <p:spPr>
          <a:xfrm>
            <a:off x="804672" y="5605272"/>
            <a:ext cx="2002536" cy="274320"/>
          </a:xfrm>
          <a:prstGeom prst="rect">
            <a:avLst/>
          </a:prstGeom>
          <a:noFill/>
          <a:ln/>
        </p:spPr>
        <p:txBody>
          <a:bodyPr wrap="square" lIns="0" tIns="0" rIns="0" bIns="0" rtlCol="0" anchor="ctr"/>
          <a:lstStyle/>
          <a:p>
            <a:pPr marL="0" indent="0">
              <a:buNone/>
            </a:pPr>
            <a:r>
              <a:rPr lang="en-US" sz="1100" b="1" dirty="0">
                <a:solidFill>
                  <a:srgbClr val="F5F3FA"/>
                </a:solidFill>
                <a:latin typeface="Calibri" pitchFamily="34" charset="0"/>
                <a:ea typeface="Calibri" pitchFamily="34" charset="-122"/>
                <a:cs typeface="Calibri" pitchFamily="34" charset="-120"/>
              </a:rPr>
              <a:t>Intervenant</a:t>
            </a:r>
            <a:endParaRPr lang="en-US" sz="1100" dirty="0"/>
          </a:p>
        </p:txBody>
      </p:sp>
      <p:sp>
        <p:nvSpPr>
          <p:cNvPr id="29" name="Text 27"/>
          <p:cNvSpPr/>
          <p:nvPr/>
        </p:nvSpPr>
        <p:spPr>
          <a:xfrm>
            <a:off x="804672" y="5879592"/>
            <a:ext cx="2002536" cy="274320"/>
          </a:xfrm>
          <a:prstGeom prst="rect">
            <a:avLst/>
          </a:prstGeom>
          <a:noFill/>
          <a:ln/>
        </p:spPr>
        <p:txBody>
          <a:bodyPr wrap="square" lIns="0" tIns="0" rIns="0" bIns="0" rtlCol="0" anchor="ctr"/>
          <a:lstStyle/>
          <a:p>
            <a:pPr marL="0" indent="0">
              <a:buNone/>
            </a:pPr>
            <a:r>
              <a:rPr lang="en-US" sz="950" dirty="0">
                <a:solidFill>
                  <a:srgbClr val="9A94B3"/>
                </a:solidFill>
                <a:latin typeface="Calibri" pitchFamily="34" charset="0"/>
                <a:ea typeface="Calibri" pitchFamily="34" charset="-122"/>
                <a:cs typeface="Calibri" pitchFamily="34" charset="-120"/>
              </a:rPr>
              <a:t>Spécialité · Pays</a:t>
            </a:r>
            <a:endParaRPr lang="en-US" sz="950" dirty="0"/>
          </a:p>
        </p:txBody>
      </p:sp>
      <p:sp>
        <p:nvSpPr>
          <p:cNvPr id="30" name="Shape 28"/>
          <p:cNvSpPr/>
          <p:nvPr/>
        </p:nvSpPr>
        <p:spPr>
          <a:xfrm>
            <a:off x="3227832" y="4526280"/>
            <a:ext cx="2331720" cy="1691640"/>
          </a:xfrm>
          <a:prstGeom prst="roundRect">
            <a:avLst>
              <a:gd name="adj" fmla="val 5405"/>
            </a:avLst>
          </a:prstGeom>
          <a:solidFill>
            <a:srgbClr val="14101F"/>
          </a:solidFill>
          <a:ln w="12700">
            <a:solidFill>
              <a:srgbClr val="2A2440"/>
            </a:solidFill>
            <a:prstDash val="solid"/>
          </a:ln>
        </p:spPr>
      </p:sp>
      <p:sp>
        <p:nvSpPr>
          <p:cNvPr id="31" name="Shape 29"/>
          <p:cNvSpPr/>
          <p:nvPr/>
        </p:nvSpPr>
        <p:spPr>
          <a:xfrm>
            <a:off x="3392424" y="4690872"/>
            <a:ext cx="2002536" cy="822960"/>
          </a:xfrm>
          <a:prstGeom prst="roundRect">
            <a:avLst>
              <a:gd name="adj" fmla="val 6667"/>
            </a:avLst>
          </a:prstGeom>
          <a:solidFill>
            <a:srgbClr val="1C1630"/>
          </a:solidFill>
          <a:ln/>
        </p:spPr>
      </p:sp>
      <p:sp>
        <p:nvSpPr>
          <p:cNvPr id="32" name="Text 30"/>
          <p:cNvSpPr/>
          <p:nvPr/>
        </p:nvSpPr>
        <p:spPr>
          <a:xfrm>
            <a:off x="3392424" y="5605272"/>
            <a:ext cx="2002536" cy="274320"/>
          </a:xfrm>
          <a:prstGeom prst="rect">
            <a:avLst/>
          </a:prstGeom>
          <a:noFill/>
          <a:ln/>
        </p:spPr>
        <p:txBody>
          <a:bodyPr wrap="square" lIns="0" tIns="0" rIns="0" bIns="0" rtlCol="0" anchor="ctr"/>
          <a:lstStyle/>
          <a:p>
            <a:pPr marL="0" indent="0">
              <a:buNone/>
            </a:pPr>
            <a:r>
              <a:rPr lang="en-US" sz="1100" b="1" dirty="0">
                <a:solidFill>
                  <a:srgbClr val="F5F3FA"/>
                </a:solidFill>
                <a:latin typeface="Calibri" pitchFamily="34" charset="0"/>
                <a:ea typeface="Calibri" pitchFamily="34" charset="-122"/>
                <a:cs typeface="Calibri" pitchFamily="34" charset="-120"/>
              </a:rPr>
              <a:t>Intervenant</a:t>
            </a:r>
            <a:endParaRPr lang="en-US" sz="1100" dirty="0"/>
          </a:p>
        </p:txBody>
      </p:sp>
      <p:sp>
        <p:nvSpPr>
          <p:cNvPr id="33" name="Text 31"/>
          <p:cNvSpPr/>
          <p:nvPr/>
        </p:nvSpPr>
        <p:spPr>
          <a:xfrm>
            <a:off x="3392424" y="5879592"/>
            <a:ext cx="2002536" cy="274320"/>
          </a:xfrm>
          <a:prstGeom prst="rect">
            <a:avLst/>
          </a:prstGeom>
          <a:noFill/>
          <a:ln/>
        </p:spPr>
        <p:txBody>
          <a:bodyPr wrap="square" lIns="0" tIns="0" rIns="0" bIns="0" rtlCol="0" anchor="ctr"/>
          <a:lstStyle/>
          <a:p>
            <a:pPr marL="0" indent="0">
              <a:buNone/>
            </a:pPr>
            <a:r>
              <a:rPr lang="en-US" sz="950" dirty="0">
                <a:solidFill>
                  <a:srgbClr val="9A94B3"/>
                </a:solidFill>
                <a:latin typeface="Calibri" pitchFamily="34" charset="0"/>
                <a:ea typeface="Calibri" pitchFamily="34" charset="-122"/>
                <a:cs typeface="Calibri" pitchFamily="34" charset="-120"/>
              </a:rPr>
              <a:t>Spécialité · Pays</a:t>
            </a:r>
            <a:endParaRPr lang="en-US" sz="950" dirty="0"/>
          </a:p>
        </p:txBody>
      </p:sp>
      <p:sp>
        <p:nvSpPr>
          <p:cNvPr id="34" name="Shape 32"/>
          <p:cNvSpPr/>
          <p:nvPr/>
        </p:nvSpPr>
        <p:spPr>
          <a:xfrm>
            <a:off x="5815584" y="4526280"/>
            <a:ext cx="2331720" cy="1691640"/>
          </a:xfrm>
          <a:prstGeom prst="roundRect">
            <a:avLst>
              <a:gd name="adj" fmla="val 5405"/>
            </a:avLst>
          </a:prstGeom>
          <a:solidFill>
            <a:srgbClr val="14101F"/>
          </a:solidFill>
          <a:ln w="12700">
            <a:solidFill>
              <a:srgbClr val="2A2440"/>
            </a:solidFill>
            <a:prstDash val="solid"/>
          </a:ln>
        </p:spPr>
      </p:sp>
      <p:sp>
        <p:nvSpPr>
          <p:cNvPr id="35" name="Shape 33"/>
          <p:cNvSpPr/>
          <p:nvPr/>
        </p:nvSpPr>
        <p:spPr>
          <a:xfrm>
            <a:off x="5980176" y="4690872"/>
            <a:ext cx="2002536" cy="822960"/>
          </a:xfrm>
          <a:prstGeom prst="roundRect">
            <a:avLst>
              <a:gd name="adj" fmla="val 6667"/>
            </a:avLst>
          </a:prstGeom>
          <a:solidFill>
            <a:srgbClr val="1C1630"/>
          </a:solidFill>
          <a:ln/>
        </p:spPr>
      </p:sp>
      <p:sp>
        <p:nvSpPr>
          <p:cNvPr id="36" name="Text 34"/>
          <p:cNvSpPr/>
          <p:nvPr/>
        </p:nvSpPr>
        <p:spPr>
          <a:xfrm>
            <a:off x="5980176" y="5605272"/>
            <a:ext cx="2002536" cy="274320"/>
          </a:xfrm>
          <a:prstGeom prst="rect">
            <a:avLst/>
          </a:prstGeom>
          <a:noFill/>
          <a:ln/>
        </p:spPr>
        <p:txBody>
          <a:bodyPr wrap="square" lIns="0" tIns="0" rIns="0" bIns="0" rtlCol="0" anchor="ctr"/>
          <a:lstStyle/>
          <a:p>
            <a:pPr marL="0" indent="0">
              <a:buNone/>
            </a:pPr>
            <a:r>
              <a:rPr lang="en-US" sz="1100" b="1" dirty="0">
                <a:solidFill>
                  <a:srgbClr val="F5F3FA"/>
                </a:solidFill>
                <a:latin typeface="Calibri" pitchFamily="34" charset="0"/>
                <a:ea typeface="Calibri" pitchFamily="34" charset="-122"/>
                <a:cs typeface="Calibri" pitchFamily="34" charset="-120"/>
              </a:rPr>
              <a:t>Intervenant</a:t>
            </a:r>
            <a:endParaRPr lang="en-US" sz="1100" dirty="0"/>
          </a:p>
        </p:txBody>
      </p:sp>
      <p:sp>
        <p:nvSpPr>
          <p:cNvPr id="37" name="Text 35"/>
          <p:cNvSpPr/>
          <p:nvPr/>
        </p:nvSpPr>
        <p:spPr>
          <a:xfrm>
            <a:off x="5980176" y="5879592"/>
            <a:ext cx="2002536" cy="274320"/>
          </a:xfrm>
          <a:prstGeom prst="rect">
            <a:avLst/>
          </a:prstGeom>
          <a:noFill/>
          <a:ln/>
        </p:spPr>
        <p:txBody>
          <a:bodyPr wrap="square" lIns="0" tIns="0" rIns="0" bIns="0" rtlCol="0" anchor="ctr"/>
          <a:lstStyle/>
          <a:p>
            <a:pPr marL="0" indent="0">
              <a:buNone/>
            </a:pPr>
            <a:r>
              <a:rPr lang="en-US" sz="950" dirty="0">
                <a:solidFill>
                  <a:srgbClr val="9A94B3"/>
                </a:solidFill>
                <a:latin typeface="Calibri" pitchFamily="34" charset="0"/>
                <a:ea typeface="Calibri" pitchFamily="34" charset="-122"/>
                <a:cs typeface="Calibri" pitchFamily="34" charset="-120"/>
              </a:rPr>
              <a:t>Spécialité · Pays</a:t>
            </a:r>
            <a:endParaRPr lang="en-US" sz="950" dirty="0"/>
          </a:p>
        </p:txBody>
      </p:sp>
      <p:sp>
        <p:nvSpPr>
          <p:cNvPr id="38" name="Shape 36"/>
          <p:cNvSpPr/>
          <p:nvPr/>
        </p:nvSpPr>
        <p:spPr>
          <a:xfrm>
            <a:off x="8732520" y="2606040"/>
            <a:ext cx="2788920" cy="3520440"/>
          </a:xfrm>
          <a:prstGeom prst="roundRect">
            <a:avLst>
              <a:gd name="adj" fmla="val 3279"/>
            </a:avLst>
          </a:prstGeom>
          <a:solidFill>
            <a:srgbClr val="14101F"/>
          </a:solidFill>
          <a:ln w="12700">
            <a:solidFill>
              <a:srgbClr val="2A2440"/>
            </a:solidFill>
            <a:prstDash val="solid"/>
          </a:ln>
        </p:spPr>
      </p:sp>
      <p:sp>
        <p:nvSpPr>
          <p:cNvPr id="39" name="Shape 37"/>
          <p:cNvSpPr/>
          <p:nvPr/>
        </p:nvSpPr>
        <p:spPr>
          <a:xfrm>
            <a:off x="9006840" y="2880360"/>
            <a:ext cx="548640" cy="548640"/>
          </a:xfrm>
          <a:prstGeom prst="ellipse">
            <a:avLst/>
          </a:prstGeom>
          <a:solidFill>
            <a:srgbClr val="8B5CF6">
              <a:alpha val="18000"/>
            </a:srgbClr>
          </a:solidFill>
          <a:ln/>
        </p:spPr>
      </p:sp>
      <p:pic>
        <p:nvPicPr>
          <p:cNvPr id="40" name="Image 0" descr="/home/claude/pptx_project/icons/filter_FFFFFF.png"/>
          <p:cNvPicPr>
            <a:picLocks noChangeAspect="1"/>
          </p:cNvPicPr>
          <p:nvPr/>
        </p:nvPicPr>
        <p:blipFill>
          <a:blip r:embed="rId3"/>
          <a:stretch>
            <a:fillRect/>
          </a:stretch>
        </p:blipFill>
        <p:spPr>
          <a:xfrm>
            <a:off x="9138514" y="3012034"/>
            <a:ext cx="285293" cy="285293"/>
          </a:xfrm>
          <a:prstGeom prst="rect">
            <a:avLst/>
          </a:prstGeom>
        </p:spPr>
      </p:pic>
      <p:sp>
        <p:nvSpPr>
          <p:cNvPr id="41" name="Text 38"/>
          <p:cNvSpPr/>
          <p:nvPr/>
        </p:nvSpPr>
        <p:spPr>
          <a:xfrm>
            <a:off x="8915400" y="3566160"/>
            <a:ext cx="2423160" cy="320040"/>
          </a:xfrm>
          <a:prstGeom prst="rect">
            <a:avLst/>
          </a:prstGeom>
          <a:noFill/>
          <a:ln/>
        </p:spPr>
        <p:txBody>
          <a:bodyPr wrap="square" lIns="0" tIns="0" rIns="0" bIns="0" rtlCol="0" anchor="ctr"/>
          <a:lstStyle/>
          <a:p>
            <a:pPr marL="0" indent="0">
              <a:buNone/>
            </a:pPr>
            <a:r>
              <a:rPr lang="en-US" sz="1400" b="1" dirty="0">
                <a:solidFill>
                  <a:srgbClr val="F5F3FA"/>
                </a:solidFill>
                <a:latin typeface="Calibri" pitchFamily="34" charset="0"/>
                <a:ea typeface="Calibri" pitchFamily="34" charset="-122"/>
                <a:cs typeface="Calibri" pitchFamily="34" charset="-120"/>
              </a:rPr>
              <a:t>Filtrage 100% JS</a:t>
            </a:r>
            <a:endParaRPr lang="en-US" sz="1400" dirty="0"/>
          </a:p>
        </p:txBody>
      </p:sp>
      <p:sp>
        <p:nvSpPr>
          <p:cNvPr id="42" name="Text 39"/>
          <p:cNvSpPr/>
          <p:nvPr/>
        </p:nvSpPr>
        <p:spPr>
          <a:xfrm>
            <a:off x="8915400" y="3931920"/>
            <a:ext cx="2423160" cy="2011680"/>
          </a:xfrm>
          <a:prstGeom prst="rect">
            <a:avLst/>
          </a:prstGeom>
          <a:noFill/>
          <a:ln/>
        </p:spPr>
        <p:txBody>
          <a:bodyPr wrap="square" lIns="0" tIns="0" rIns="0" bIns="0" rtlCol="0" anchor="t"/>
          <a:lstStyle/>
          <a:p>
            <a:pPr marL="0" indent="0">
              <a:lnSpc>
                <a:spcPct val="130000"/>
              </a:lnSpc>
              <a:buNone/>
            </a:pPr>
            <a:r>
              <a:rPr lang="en-US" sz="1100" dirty="0">
                <a:solidFill>
                  <a:srgbClr val="9A94B3"/>
                </a:solidFill>
                <a:latin typeface="Calibri" pitchFamily="34" charset="0"/>
                <a:ea typeface="Calibri" pitchFamily="34" charset="-122"/>
                <a:cs typeface="Calibri" pitchFamily="34" charset="-120"/>
              </a:rPr>
              <a:t>Grille 3 colonnes desktop, 2 tablette, 1 mobile. Effet hover : ombre + translation. Bouton actif mis en évidence visuellement.</a:t>
            </a:r>
            <a:endParaRPr lang="en-US" sz="1100" dirty="0"/>
          </a:p>
        </p:txBody>
      </p:sp>
      <p:sp>
        <p:nvSpPr>
          <p:cNvPr id="43" name="Text 40"/>
          <p:cNvSpPr/>
          <p:nvPr/>
        </p:nvSpPr>
        <p:spPr>
          <a:xfrm>
            <a:off x="457200" y="6537960"/>
            <a:ext cx="5486400" cy="274320"/>
          </a:xfrm>
          <a:prstGeom prst="rect">
            <a:avLst/>
          </a:prstGeom>
          <a:noFill/>
          <a:ln/>
        </p:spPr>
        <p:txBody>
          <a:bodyPr wrap="square" lIns="0" tIns="0" rIns="0" bIns="0" rtlCol="0" anchor="ctr"/>
          <a:lstStyle/>
          <a:p>
            <a:pPr marL="0" indent="0">
              <a:buNone/>
            </a:pPr>
            <a:r>
              <a:rPr lang="en-US" sz="1000" dirty="0">
                <a:solidFill>
                  <a:srgbClr val="9A94B3"/>
                </a:solidFill>
                <a:latin typeface="Calibri" pitchFamily="34" charset="0"/>
                <a:ea typeface="Calibri" pitchFamily="34" charset="-122"/>
                <a:cs typeface="Calibri" pitchFamily="34" charset="-120"/>
              </a:rPr>
              <a:t>AfriConnect Summit 2026 — Projet Web L1</a:t>
            </a:r>
            <a:endParaRPr lang="en-US" sz="1000" dirty="0"/>
          </a:p>
        </p:txBody>
      </p:sp>
      <p:sp>
        <p:nvSpPr>
          <p:cNvPr id="44" name="Text 41"/>
          <p:cNvSpPr/>
          <p:nvPr/>
        </p:nvSpPr>
        <p:spPr>
          <a:xfrm>
            <a:off x="11338560" y="6537960"/>
            <a:ext cx="457200" cy="274320"/>
          </a:xfrm>
          <a:prstGeom prst="rect">
            <a:avLst/>
          </a:prstGeom>
          <a:noFill/>
          <a:ln/>
        </p:spPr>
        <p:txBody>
          <a:bodyPr wrap="square" lIns="0" tIns="0" rIns="0" bIns="0" rtlCol="0" anchor="ctr"/>
          <a:lstStyle/>
          <a:p>
            <a:pPr marL="0" indent="0" algn="r">
              <a:buNone/>
            </a:pPr>
            <a:r>
              <a:rPr lang="en-US" sz="1000" dirty="0">
                <a:solidFill>
                  <a:srgbClr val="9A94B3"/>
                </a:solidFill>
                <a:latin typeface="Calibri" pitchFamily="34" charset="0"/>
                <a:ea typeface="Calibri" pitchFamily="34" charset="-122"/>
                <a:cs typeface="Calibri" pitchFamily="34" charset="-120"/>
              </a:rPr>
              <a:t>8</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714"/>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buNone/>
            </a:pPr>
            <a:r>
              <a:rPr lang="en-US" sz="1200" b="1" kern="0" spc="200" dirty="0">
                <a:solidFill>
                  <a:srgbClr val="A78BFA"/>
                </a:solidFill>
                <a:latin typeface="Calibri" pitchFamily="34" charset="0"/>
                <a:ea typeface="Calibri" pitchFamily="34" charset="-122"/>
                <a:cs typeface="Calibri" pitchFamily="34" charset="-120"/>
              </a:rPr>
              <a:t>PAGE 4 · INSCRIPTION &amp; CONTACT</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marL="0" indent="0">
              <a:buNone/>
            </a:pPr>
            <a:r>
              <a:rPr lang="en-US" sz="2600" b="1" dirty="0">
                <a:solidFill>
                  <a:srgbClr val="F5F3FA"/>
                </a:solidFill>
                <a:latin typeface="Calibri" pitchFamily="34" charset="0"/>
                <a:ea typeface="Calibri" pitchFamily="34" charset="-122"/>
                <a:cs typeface="Calibri" pitchFamily="34" charset="-120"/>
              </a:rPr>
              <a:t>Un formulaire validé, une FAQ 100% CSS</a:t>
            </a:r>
            <a:endParaRPr lang="en-US" sz="2600" dirty="0"/>
          </a:p>
        </p:txBody>
      </p:sp>
      <p:sp>
        <p:nvSpPr>
          <p:cNvPr id="4" name="Shape 2"/>
          <p:cNvSpPr/>
          <p:nvPr/>
        </p:nvSpPr>
        <p:spPr>
          <a:xfrm>
            <a:off x="640080" y="1783080"/>
            <a:ext cx="594360" cy="594360"/>
          </a:xfrm>
          <a:prstGeom prst="ellipse">
            <a:avLst/>
          </a:prstGeom>
          <a:solidFill>
            <a:srgbClr val="8B5CF6">
              <a:alpha val="18000"/>
            </a:srgbClr>
          </a:solidFill>
          <a:ln/>
        </p:spPr>
      </p:sp>
      <p:pic>
        <p:nvPicPr>
          <p:cNvPr id="5" name="Image 0" descr="/home/claude/pptx_project/icons/edit_FFFFFF.png"/>
          <p:cNvPicPr>
            <a:picLocks noChangeAspect="1"/>
          </p:cNvPicPr>
          <p:nvPr/>
        </p:nvPicPr>
        <p:blipFill>
          <a:blip r:embed="rId3"/>
          <a:stretch>
            <a:fillRect/>
          </a:stretch>
        </p:blipFill>
        <p:spPr>
          <a:xfrm>
            <a:off x="782726" y="1925726"/>
            <a:ext cx="309067" cy="309067"/>
          </a:xfrm>
          <a:prstGeom prst="rect">
            <a:avLst/>
          </a:prstGeom>
        </p:spPr>
      </p:pic>
      <p:sp>
        <p:nvSpPr>
          <p:cNvPr id="6" name="Text 3"/>
          <p:cNvSpPr/>
          <p:nvPr/>
        </p:nvSpPr>
        <p:spPr>
          <a:xfrm>
            <a:off x="1417320" y="1764792"/>
            <a:ext cx="9966960" cy="32004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Formulaire d'inscription en 2 colonnes</a:t>
            </a:r>
            <a:endParaRPr lang="en-US" sz="1500" dirty="0"/>
          </a:p>
        </p:txBody>
      </p:sp>
      <p:sp>
        <p:nvSpPr>
          <p:cNvPr id="7" name="Text 4"/>
          <p:cNvSpPr/>
          <p:nvPr/>
        </p:nvSpPr>
        <p:spPr>
          <a:xfrm>
            <a:off x="1417320" y="2075688"/>
            <a:ext cx="9966960" cy="502920"/>
          </a:xfrm>
          <a:prstGeom prst="rect">
            <a:avLst/>
          </a:prstGeom>
          <a:noFill/>
          <a:ln/>
        </p:spPr>
        <p:txBody>
          <a:bodyPr wrap="square" lIns="0" tIns="0" rIns="0" bIns="0" rtlCol="0" anchor="ctr"/>
          <a:lstStyle/>
          <a:p>
            <a:pPr marL="0" indent="0">
              <a:lnSpc>
                <a:spcPct val="120000"/>
              </a:lnSpc>
              <a:buNone/>
            </a:pPr>
            <a:r>
              <a:rPr lang="en-US" sz="1250" dirty="0">
                <a:solidFill>
                  <a:srgbClr val="9A94B3"/>
                </a:solidFill>
                <a:latin typeface="Calibri" pitchFamily="34" charset="0"/>
                <a:ea typeface="Calibri" pitchFamily="34" charset="-122"/>
                <a:cs typeface="Calibri" pitchFamily="34" charset="-120"/>
              </a:rPr>
              <a:t>Nom, email, téléphone, participation, pays (11 options), message — validation JS complète.</a:t>
            </a:r>
            <a:endParaRPr lang="en-US" sz="1250" dirty="0"/>
          </a:p>
        </p:txBody>
      </p:sp>
      <p:sp>
        <p:nvSpPr>
          <p:cNvPr id="8" name="Shape 5"/>
          <p:cNvSpPr/>
          <p:nvPr/>
        </p:nvSpPr>
        <p:spPr>
          <a:xfrm>
            <a:off x="640080" y="2834640"/>
            <a:ext cx="594360" cy="594360"/>
          </a:xfrm>
          <a:prstGeom prst="ellipse">
            <a:avLst/>
          </a:prstGeom>
          <a:solidFill>
            <a:srgbClr val="8B5CF6">
              <a:alpha val="18000"/>
            </a:srgbClr>
          </a:solidFill>
          <a:ln/>
        </p:spPr>
      </p:sp>
      <p:pic>
        <p:nvPicPr>
          <p:cNvPr id="9" name="Image 1" descr="/home/claude/pptx_project/icons/check_FFFFFF.png"/>
          <p:cNvPicPr>
            <a:picLocks noChangeAspect="1"/>
          </p:cNvPicPr>
          <p:nvPr/>
        </p:nvPicPr>
        <p:blipFill>
          <a:blip r:embed="rId4"/>
          <a:stretch>
            <a:fillRect/>
          </a:stretch>
        </p:blipFill>
        <p:spPr>
          <a:xfrm>
            <a:off x="782726" y="2977286"/>
            <a:ext cx="309067" cy="309067"/>
          </a:xfrm>
          <a:prstGeom prst="rect">
            <a:avLst/>
          </a:prstGeom>
        </p:spPr>
      </p:pic>
      <p:sp>
        <p:nvSpPr>
          <p:cNvPr id="10" name="Text 6"/>
          <p:cNvSpPr/>
          <p:nvPr/>
        </p:nvSpPr>
        <p:spPr>
          <a:xfrm>
            <a:off x="1417320" y="2816352"/>
            <a:ext cx="9966960" cy="32004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Retour visuel par champ</a:t>
            </a:r>
            <a:endParaRPr lang="en-US" sz="1500" dirty="0"/>
          </a:p>
        </p:txBody>
      </p:sp>
      <p:sp>
        <p:nvSpPr>
          <p:cNvPr id="11" name="Text 7"/>
          <p:cNvSpPr/>
          <p:nvPr/>
        </p:nvSpPr>
        <p:spPr>
          <a:xfrm>
            <a:off x="1417320" y="3127248"/>
            <a:ext cx="9966960" cy="502920"/>
          </a:xfrm>
          <a:prstGeom prst="rect">
            <a:avLst/>
          </a:prstGeom>
          <a:noFill/>
          <a:ln/>
        </p:spPr>
        <p:txBody>
          <a:bodyPr wrap="square" lIns="0" tIns="0" rIns="0" bIns="0" rtlCol="0" anchor="ctr"/>
          <a:lstStyle/>
          <a:p>
            <a:pPr marL="0" indent="0">
              <a:lnSpc>
                <a:spcPct val="120000"/>
              </a:lnSpc>
              <a:buNone/>
            </a:pPr>
            <a:r>
              <a:rPr lang="en-US" sz="1250" dirty="0">
                <a:solidFill>
                  <a:srgbClr val="9A94B3"/>
                </a:solidFill>
                <a:latin typeface="Calibri" pitchFamily="34" charset="0"/>
                <a:ea typeface="Calibri" pitchFamily="34" charset="-122"/>
                <a:cs typeface="Calibri" pitchFamily="34" charset="-120"/>
              </a:rPr>
              <a:t>Bordure rouge/verte + message d'erreur ; regex email, téléphone ≥ 8 chiffres, message ≥ 20 caractères.</a:t>
            </a:r>
            <a:endParaRPr lang="en-US" sz="1250" dirty="0"/>
          </a:p>
        </p:txBody>
      </p:sp>
      <p:sp>
        <p:nvSpPr>
          <p:cNvPr id="12" name="Shape 8"/>
          <p:cNvSpPr/>
          <p:nvPr/>
        </p:nvSpPr>
        <p:spPr>
          <a:xfrm>
            <a:off x="640080" y="3886200"/>
            <a:ext cx="594360" cy="594360"/>
          </a:xfrm>
          <a:prstGeom prst="ellipse">
            <a:avLst/>
          </a:prstGeom>
          <a:solidFill>
            <a:srgbClr val="8B5CF6">
              <a:alpha val="18000"/>
            </a:srgbClr>
          </a:solidFill>
          <a:ln/>
        </p:spPr>
      </p:sp>
      <p:pic>
        <p:nvPicPr>
          <p:cNvPr id="13" name="Image 2" descr="/home/claude/pptx_project/icons/toggleleft_FFFFFF.png"/>
          <p:cNvPicPr>
            <a:picLocks noChangeAspect="1"/>
          </p:cNvPicPr>
          <p:nvPr/>
        </p:nvPicPr>
        <p:blipFill>
          <a:blip r:embed="rId5"/>
          <a:stretch>
            <a:fillRect/>
          </a:stretch>
        </p:blipFill>
        <p:spPr>
          <a:xfrm>
            <a:off x="782726" y="4028846"/>
            <a:ext cx="309067" cy="309067"/>
          </a:xfrm>
          <a:prstGeom prst="rect">
            <a:avLst/>
          </a:prstGeom>
        </p:spPr>
      </p:pic>
      <p:sp>
        <p:nvSpPr>
          <p:cNvPr id="14" name="Text 9"/>
          <p:cNvSpPr/>
          <p:nvPr/>
        </p:nvSpPr>
        <p:spPr>
          <a:xfrm>
            <a:off x="1417320" y="3867912"/>
            <a:ext cx="9966960" cy="32004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FAQ en accordéon CSS pur</a:t>
            </a:r>
            <a:endParaRPr lang="en-US" sz="1500" dirty="0"/>
          </a:p>
        </p:txBody>
      </p:sp>
      <p:sp>
        <p:nvSpPr>
          <p:cNvPr id="15" name="Text 10"/>
          <p:cNvSpPr/>
          <p:nvPr/>
        </p:nvSpPr>
        <p:spPr>
          <a:xfrm>
            <a:off x="1417320" y="4178808"/>
            <a:ext cx="9966960" cy="502920"/>
          </a:xfrm>
          <a:prstGeom prst="rect">
            <a:avLst/>
          </a:prstGeom>
          <a:noFill/>
          <a:ln/>
        </p:spPr>
        <p:txBody>
          <a:bodyPr wrap="square" lIns="0" tIns="0" rIns="0" bIns="0" rtlCol="0" anchor="ctr"/>
          <a:lstStyle/>
          <a:p>
            <a:pPr marL="0" indent="0">
              <a:lnSpc>
                <a:spcPct val="120000"/>
              </a:lnSpc>
              <a:buNone/>
            </a:pPr>
            <a:r>
              <a:rPr lang="en-US" sz="1250" dirty="0">
                <a:solidFill>
                  <a:srgbClr val="9A94B3"/>
                </a:solidFill>
                <a:latin typeface="Calibri" pitchFamily="34" charset="0"/>
                <a:ea typeface="Calibri" pitchFamily="34" charset="-122"/>
                <a:cs typeface="Calibri" pitchFamily="34" charset="-120"/>
              </a:rPr>
              <a:t>5 questions/réponses, ouverture via :checked — aucune ligne de JavaScript.</a:t>
            </a:r>
            <a:endParaRPr lang="en-US" sz="1250" dirty="0"/>
          </a:p>
        </p:txBody>
      </p:sp>
      <p:sp>
        <p:nvSpPr>
          <p:cNvPr id="16" name="Shape 11"/>
          <p:cNvSpPr/>
          <p:nvPr/>
        </p:nvSpPr>
        <p:spPr>
          <a:xfrm>
            <a:off x="640080" y="4937760"/>
            <a:ext cx="594360" cy="594360"/>
          </a:xfrm>
          <a:prstGeom prst="ellipse">
            <a:avLst/>
          </a:prstGeom>
          <a:solidFill>
            <a:srgbClr val="8B5CF6">
              <a:alpha val="18000"/>
            </a:srgbClr>
          </a:solidFill>
          <a:ln/>
        </p:spPr>
      </p:sp>
      <p:pic>
        <p:nvPicPr>
          <p:cNvPr id="17" name="Image 3" descr="/home/claude/pptx_project/icons/map_FFFFFF.png"/>
          <p:cNvPicPr>
            <a:picLocks noChangeAspect="1"/>
          </p:cNvPicPr>
          <p:nvPr/>
        </p:nvPicPr>
        <p:blipFill>
          <a:blip r:embed="rId6"/>
          <a:stretch>
            <a:fillRect/>
          </a:stretch>
        </p:blipFill>
        <p:spPr>
          <a:xfrm>
            <a:off x="782726" y="5080406"/>
            <a:ext cx="309067" cy="309067"/>
          </a:xfrm>
          <a:prstGeom prst="rect">
            <a:avLst/>
          </a:prstGeom>
        </p:spPr>
      </p:pic>
      <p:sp>
        <p:nvSpPr>
          <p:cNvPr id="18" name="Text 12"/>
          <p:cNvSpPr/>
          <p:nvPr/>
        </p:nvSpPr>
        <p:spPr>
          <a:xfrm>
            <a:off x="1417320" y="4919472"/>
            <a:ext cx="9966960" cy="320040"/>
          </a:xfrm>
          <a:prstGeom prst="rect">
            <a:avLst/>
          </a:prstGeom>
          <a:noFill/>
          <a:ln/>
        </p:spPr>
        <p:txBody>
          <a:bodyPr wrap="square" lIns="0" tIns="0" rIns="0" bIns="0" rtlCol="0" anchor="ctr"/>
          <a:lstStyle/>
          <a:p>
            <a:pPr marL="0" indent="0">
              <a:buNone/>
            </a:pPr>
            <a:r>
              <a:rPr lang="en-US" sz="1500" b="1" dirty="0">
                <a:solidFill>
                  <a:srgbClr val="F5F3FA"/>
                </a:solidFill>
                <a:latin typeface="Calibri" pitchFamily="34" charset="0"/>
                <a:ea typeface="Calibri" pitchFamily="34" charset="-122"/>
                <a:cs typeface="Calibri" pitchFamily="34" charset="-120"/>
              </a:rPr>
              <a:t>Carte intégrée</a:t>
            </a:r>
            <a:endParaRPr lang="en-US" sz="1500" dirty="0"/>
          </a:p>
        </p:txBody>
      </p:sp>
      <p:sp>
        <p:nvSpPr>
          <p:cNvPr id="19" name="Text 13"/>
          <p:cNvSpPr/>
          <p:nvPr/>
        </p:nvSpPr>
        <p:spPr>
          <a:xfrm>
            <a:off x="1417320" y="5230368"/>
            <a:ext cx="9966960" cy="502920"/>
          </a:xfrm>
          <a:prstGeom prst="rect">
            <a:avLst/>
          </a:prstGeom>
          <a:noFill/>
          <a:ln/>
        </p:spPr>
        <p:txBody>
          <a:bodyPr wrap="square" lIns="0" tIns="0" rIns="0" bIns="0" rtlCol="0" anchor="ctr"/>
          <a:lstStyle/>
          <a:p>
            <a:pPr marL="0" indent="0">
              <a:lnSpc>
                <a:spcPct val="120000"/>
              </a:lnSpc>
              <a:buNone/>
            </a:pPr>
            <a:r>
              <a:rPr lang="en-US" sz="1250" dirty="0">
                <a:solidFill>
                  <a:srgbClr val="9A94B3"/>
                </a:solidFill>
                <a:latin typeface="Calibri" pitchFamily="34" charset="0"/>
                <a:ea typeface="Calibri" pitchFamily="34" charset="-122"/>
                <a:cs typeface="Calibri" pitchFamily="34" charset="-120"/>
              </a:rPr>
              <a:t>Iframe Google Maps localisant le lieu de la conférence à Dakar.</a:t>
            </a:r>
            <a:endParaRPr lang="en-US" sz="1250" dirty="0"/>
          </a:p>
        </p:txBody>
      </p:sp>
      <p:sp>
        <p:nvSpPr>
          <p:cNvPr id="20" name="Text 14"/>
          <p:cNvSpPr/>
          <p:nvPr/>
        </p:nvSpPr>
        <p:spPr>
          <a:xfrm>
            <a:off x="457200" y="6537960"/>
            <a:ext cx="5486400" cy="274320"/>
          </a:xfrm>
          <a:prstGeom prst="rect">
            <a:avLst/>
          </a:prstGeom>
          <a:noFill/>
          <a:ln/>
        </p:spPr>
        <p:txBody>
          <a:bodyPr wrap="square" lIns="0" tIns="0" rIns="0" bIns="0" rtlCol="0" anchor="ctr"/>
          <a:lstStyle/>
          <a:p>
            <a:pPr marL="0" indent="0">
              <a:buNone/>
            </a:pPr>
            <a:r>
              <a:rPr lang="en-US" sz="1000" dirty="0">
                <a:solidFill>
                  <a:srgbClr val="9A94B3"/>
                </a:solidFill>
                <a:latin typeface="Calibri" pitchFamily="34" charset="0"/>
                <a:ea typeface="Calibri" pitchFamily="34" charset="-122"/>
                <a:cs typeface="Calibri" pitchFamily="34" charset="-120"/>
              </a:rPr>
              <a:t>AfriConnect Summit 2026 — Projet Web L1</a:t>
            </a:r>
            <a:endParaRPr lang="en-US" sz="1000" dirty="0"/>
          </a:p>
        </p:txBody>
      </p:sp>
      <p:sp>
        <p:nvSpPr>
          <p:cNvPr id="21" name="Text 15"/>
          <p:cNvSpPr/>
          <p:nvPr/>
        </p:nvSpPr>
        <p:spPr>
          <a:xfrm>
            <a:off x="11338560" y="6537960"/>
            <a:ext cx="457200" cy="274320"/>
          </a:xfrm>
          <a:prstGeom prst="rect">
            <a:avLst/>
          </a:prstGeom>
          <a:noFill/>
          <a:ln/>
        </p:spPr>
        <p:txBody>
          <a:bodyPr wrap="square" lIns="0" tIns="0" rIns="0" bIns="0" rtlCol="0" anchor="ctr"/>
          <a:lstStyle/>
          <a:p>
            <a:pPr marL="0" indent="0" algn="r">
              <a:buNone/>
            </a:pPr>
            <a:r>
              <a:rPr lang="en-US" sz="1000" dirty="0">
                <a:solidFill>
                  <a:srgbClr val="9A94B3"/>
                </a:solidFill>
                <a:latin typeface="Calibri" pitchFamily="34" charset="0"/>
                <a:ea typeface="Calibri" pitchFamily="34" charset="-122"/>
                <a:cs typeface="Calibri" pitchFamily="34" charset="-120"/>
              </a:rPr>
              <a:t>9</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714"/>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buNone/>
            </a:pPr>
            <a:r>
              <a:rPr lang="en-US" sz="1200" b="1" kern="0" spc="200" dirty="0">
                <a:solidFill>
                  <a:srgbClr val="A78BFA"/>
                </a:solidFill>
                <a:latin typeface="Calibri" pitchFamily="34" charset="0"/>
                <a:ea typeface="Calibri" pitchFamily="34" charset="-122"/>
                <a:cs typeface="Calibri" pitchFamily="34" charset="-120"/>
              </a:rPr>
              <a:t>RÉCAPITULATIF</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marL="0" indent="0">
              <a:buNone/>
            </a:pPr>
            <a:r>
              <a:rPr lang="en-US" sz="2600" b="1" dirty="0">
                <a:solidFill>
                  <a:srgbClr val="F5F3FA"/>
                </a:solidFill>
                <a:latin typeface="Calibri" pitchFamily="34" charset="0"/>
                <a:ea typeface="Calibri" pitchFamily="34" charset="-122"/>
                <a:cs typeface="Calibri" pitchFamily="34" charset="-120"/>
              </a:rPr>
              <a:t>10 fonctionnalités JavaScript vanilla</a:t>
            </a:r>
            <a:endParaRPr lang="en-US" sz="2600" dirty="0"/>
          </a:p>
        </p:txBody>
      </p:sp>
      <p:sp>
        <p:nvSpPr>
          <p:cNvPr id="4" name="Shape 2"/>
          <p:cNvSpPr/>
          <p:nvPr/>
        </p:nvSpPr>
        <p:spPr>
          <a:xfrm>
            <a:off x="640080" y="1929384"/>
            <a:ext cx="292608" cy="292608"/>
          </a:xfrm>
          <a:prstGeom prst="ellipse">
            <a:avLst/>
          </a:prstGeom>
          <a:solidFill>
            <a:srgbClr val="8B5CF6">
              <a:alpha val="18000"/>
            </a:srgbClr>
          </a:solidFill>
          <a:ln/>
        </p:spPr>
      </p:sp>
      <p:pic>
        <p:nvPicPr>
          <p:cNvPr id="5" name="Image 0" descr="/home/claude/pptx_project/icons/check_A78BFA.png"/>
          <p:cNvPicPr>
            <a:picLocks noChangeAspect="1"/>
          </p:cNvPicPr>
          <p:nvPr/>
        </p:nvPicPr>
        <p:blipFill>
          <a:blip r:embed="rId3"/>
          <a:stretch>
            <a:fillRect/>
          </a:stretch>
        </p:blipFill>
        <p:spPr>
          <a:xfrm>
            <a:off x="676656" y="1965960"/>
            <a:ext cx="219456" cy="219456"/>
          </a:xfrm>
          <a:prstGeom prst="rect">
            <a:avLst/>
          </a:prstGeom>
        </p:spPr>
      </p:pic>
      <p:sp>
        <p:nvSpPr>
          <p:cNvPr id="6" name="Text 3"/>
          <p:cNvSpPr/>
          <p:nvPr/>
        </p:nvSpPr>
        <p:spPr>
          <a:xfrm>
            <a:off x="1097280" y="1874520"/>
            <a:ext cx="4754880" cy="457200"/>
          </a:xfrm>
          <a:prstGeom prst="rect">
            <a:avLst/>
          </a:prstGeom>
          <a:noFill/>
          <a:ln/>
        </p:spPr>
        <p:txBody>
          <a:bodyPr wrap="square" lIns="0" tIns="0" rIns="0" bIns="0" rtlCol="0" anchor="ctr"/>
          <a:lstStyle/>
          <a:p>
            <a:pPr marL="0" indent="0">
              <a:buNone/>
            </a:pPr>
            <a:r>
              <a:rPr lang="en-US" sz="1400" dirty="0">
                <a:solidFill>
                  <a:srgbClr val="F5F3FA"/>
                </a:solidFill>
                <a:latin typeface="Calibri" pitchFamily="34" charset="0"/>
                <a:ea typeface="Calibri" pitchFamily="34" charset="-122"/>
                <a:cs typeface="Calibri" pitchFamily="34" charset="-120"/>
              </a:rPr>
              <a:t>Dark mode / Light mode (localStorage)</a:t>
            </a:r>
            <a:endParaRPr lang="en-US" sz="1400" dirty="0"/>
          </a:p>
        </p:txBody>
      </p:sp>
      <p:sp>
        <p:nvSpPr>
          <p:cNvPr id="7" name="Shape 4"/>
          <p:cNvSpPr/>
          <p:nvPr/>
        </p:nvSpPr>
        <p:spPr>
          <a:xfrm>
            <a:off x="640080" y="2734056"/>
            <a:ext cx="292608" cy="292608"/>
          </a:xfrm>
          <a:prstGeom prst="ellipse">
            <a:avLst/>
          </a:prstGeom>
          <a:solidFill>
            <a:srgbClr val="8B5CF6">
              <a:alpha val="18000"/>
            </a:srgbClr>
          </a:solidFill>
          <a:ln/>
        </p:spPr>
      </p:sp>
      <p:pic>
        <p:nvPicPr>
          <p:cNvPr id="8" name="Image 1" descr="/home/claude/pptx_project/icons/check_A78BFA.png"/>
          <p:cNvPicPr>
            <a:picLocks noChangeAspect="1"/>
          </p:cNvPicPr>
          <p:nvPr/>
        </p:nvPicPr>
        <p:blipFill>
          <a:blip r:embed="rId3"/>
          <a:stretch>
            <a:fillRect/>
          </a:stretch>
        </p:blipFill>
        <p:spPr>
          <a:xfrm>
            <a:off x="676656" y="2770632"/>
            <a:ext cx="219456" cy="219456"/>
          </a:xfrm>
          <a:prstGeom prst="rect">
            <a:avLst/>
          </a:prstGeom>
        </p:spPr>
      </p:pic>
      <p:sp>
        <p:nvSpPr>
          <p:cNvPr id="9" name="Text 5"/>
          <p:cNvSpPr/>
          <p:nvPr/>
        </p:nvSpPr>
        <p:spPr>
          <a:xfrm>
            <a:off x="1097280" y="2679192"/>
            <a:ext cx="4754880" cy="457200"/>
          </a:xfrm>
          <a:prstGeom prst="rect">
            <a:avLst/>
          </a:prstGeom>
          <a:noFill/>
          <a:ln/>
        </p:spPr>
        <p:txBody>
          <a:bodyPr wrap="square" lIns="0" tIns="0" rIns="0" bIns="0" rtlCol="0" anchor="ctr"/>
          <a:lstStyle/>
          <a:p>
            <a:pPr marL="0" indent="0">
              <a:buNone/>
            </a:pPr>
            <a:r>
              <a:rPr lang="en-US" sz="1400" dirty="0">
                <a:solidFill>
                  <a:srgbClr val="F5F3FA"/>
                </a:solidFill>
                <a:latin typeface="Calibri" pitchFamily="34" charset="0"/>
                <a:ea typeface="Calibri" pitchFamily="34" charset="-122"/>
                <a:cs typeface="Calibri" pitchFamily="34" charset="-120"/>
              </a:rPr>
              <a:t>Navbar dynamique après 80px de scroll</a:t>
            </a:r>
            <a:endParaRPr lang="en-US" sz="1400" dirty="0"/>
          </a:p>
        </p:txBody>
      </p:sp>
      <p:sp>
        <p:nvSpPr>
          <p:cNvPr id="10" name="Shape 6"/>
          <p:cNvSpPr/>
          <p:nvPr/>
        </p:nvSpPr>
        <p:spPr>
          <a:xfrm>
            <a:off x="640080" y="3538728"/>
            <a:ext cx="292608" cy="292608"/>
          </a:xfrm>
          <a:prstGeom prst="ellipse">
            <a:avLst/>
          </a:prstGeom>
          <a:solidFill>
            <a:srgbClr val="8B5CF6">
              <a:alpha val="18000"/>
            </a:srgbClr>
          </a:solidFill>
          <a:ln/>
        </p:spPr>
      </p:sp>
      <p:pic>
        <p:nvPicPr>
          <p:cNvPr id="11" name="Image 2" descr="/home/claude/pptx_project/icons/check_A78BFA.png"/>
          <p:cNvPicPr>
            <a:picLocks noChangeAspect="1"/>
          </p:cNvPicPr>
          <p:nvPr/>
        </p:nvPicPr>
        <p:blipFill>
          <a:blip r:embed="rId3"/>
          <a:stretch>
            <a:fillRect/>
          </a:stretch>
        </p:blipFill>
        <p:spPr>
          <a:xfrm>
            <a:off x="676656" y="3575304"/>
            <a:ext cx="219456" cy="219456"/>
          </a:xfrm>
          <a:prstGeom prst="rect">
            <a:avLst/>
          </a:prstGeom>
        </p:spPr>
      </p:pic>
      <p:sp>
        <p:nvSpPr>
          <p:cNvPr id="12" name="Text 7"/>
          <p:cNvSpPr/>
          <p:nvPr/>
        </p:nvSpPr>
        <p:spPr>
          <a:xfrm>
            <a:off x="1097280" y="3483864"/>
            <a:ext cx="4754880" cy="457200"/>
          </a:xfrm>
          <a:prstGeom prst="rect">
            <a:avLst/>
          </a:prstGeom>
          <a:noFill/>
          <a:ln/>
        </p:spPr>
        <p:txBody>
          <a:bodyPr wrap="square" lIns="0" tIns="0" rIns="0" bIns="0" rtlCol="0" anchor="ctr"/>
          <a:lstStyle/>
          <a:p>
            <a:pPr marL="0" indent="0">
              <a:buNone/>
            </a:pPr>
            <a:r>
              <a:rPr lang="en-US" sz="1400" dirty="0">
                <a:solidFill>
                  <a:srgbClr val="F5F3FA"/>
                </a:solidFill>
                <a:latin typeface="Calibri" pitchFamily="34" charset="0"/>
                <a:ea typeface="Calibri" pitchFamily="34" charset="-122"/>
                <a:cs typeface="Calibri" pitchFamily="34" charset="-120"/>
              </a:rPr>
              <a:t>Menu hamburger mobile</a:t>
            </a:r>
            <a:endParaRPr lang="en-US" sz="1400" dirty="0"/>
          </a:p>
        </p:txBody>
      </p:sp>
      <p:sp>
        <p:nvSpPr>
          <p:cNvPr id="13" name="Shape 8"/>
          <p:cNvSpPr/>
          <p:nvPr/>
        </p:nvSpPr>
        <p:spPr>
          <a:xfrm>
            <a:off x="640080" y="4343400"/>
            <a:ext cx="292608" cy="292608"/>
          </a:xfrm>
          <a:prstGeom prst="ellipse">
            <a:avLst/>
          </a:prstGeom>
          <a:solidFill>
            <a:srgbClr val="8B5CF6">
              <a:alpha val="18000"/>
            </a:srgbClr>
          </a:solidFill>
          <a:ln/>
        </p:spPr>
      </p:sp>
      <p:pic>
        <p:nvPicPr>
          <p:cNvPr id="14" name="Image 3" descr="/home/claude/pptx_project/icons/check_A78BFA.png"/>
          <p:cNvPicPr>
            <a:picLocks noChangeAspect="1"/>
          </p:cNvPicPr>
          <p:nvPr/>
        </p:nvPicPr>
        <p:blipFill>
          <a:blip r:embed="rId3"/>
          <a:stretch>
            <a:fillRect/>
          </a:stretch>
        </p:blipFill>
        <p:spPr>
          <a:xfrm>
            <a:off x="676656" y="4379976"/>
            <a:ext cx="219456" cy="219456"/>
          </a:xfrm>
          <a:prstGeom prst="rect">
            <a:avLst/>
          </a:prstGeom>
        </p:spPr>
      </p:pic>
      <p:sp>
        <p:nvSpPr>
          <p:cNvPr id="15" name="Text 9"/>
          <p:cNvSpPr/>
          <p:nvPr/>
        </p:nvSpPr>
        <p:spPr>
          <a:xfrm>
            <a:off x="1097280" y="4288536"/>
            <a:ext cx="4754880" cy="457200"/>
          </a:xfrm>
          <a:prstGeom prst="rect">
            <a:avLst/>
          </a:prstGeom>
          <a:noFill/>
          <a:ln/>
        </p:spPr>
        <p:txBody>
          <a:bodyPr wrap="square" lIns="0" tIns="0" rIns="0" bIns="0" rtlCol="0" anchor="ctr"/>
          <a:lstStyle/>
          <a:p>
            <a:pPr marL="0" indent="0">
              <a:buNone/>
            </a:pPr>
            <a:r>
              <a:rPr lang="en-US" sz="1400" dirty="0">
                <a:solidFill>
                  <a:srgbClr val="F5F3FA"/>
                </a:solidFill>
                <a:latin typeface="Calibri" pitchFamily="34" charset="0"/>
                <a:ea typeface="Calibri" pitchFamily="34" charset="-122"/>
                <a:cs typeface="Calibri" pitchFamily="34" charset="-120"/>
              </a:rPr>
              <a:t>Animations au scroll (IntersectionObserver)</a:t>
            </a:r>
            <a:endParaRPr lang="en-US" sz="1400" dirty="0"/>
          </a:p>
        </p:txBody>
      </p:sp>
      <p:sp>
        <p:nvSpPr>
          <p:cNvPr id="16" name="Shape 10"/>
          <p:cNvSpPr/>
          <p:nvPr/>
        </p:nvSpPr>
        <p:spPr>
          <a:xfrm>
            <a:off x="640080" y="5148072"/>
            <a:ext cx="292608" cy="292608"/>
          </a:xfrm>
          <a:prstGeom prst="ellipse">
            <a:avLst/>
          </a:prstGeom>
          <a:solidFill>
            <a:srgbClr val="8B5CF6">
              <a:alpha val="18000"/>
            </a:srgbClr>
          </a:solidFill>
          <a:ln/>
        </p:spPr>
      </p:sp>
      <p:pic>
        <p:nvPicPr>
          <p:cNvPr id="17" name="Image 4" descr="/home/claude/pptx_project/icons/check_A78BFA.png"/>
          <p:cNvPicPr>
            <a:picLocks noChangeAspect="1"/>
          </p:cNvPicPr>
          <p:nvPr/>
        </p:nvPicPr>
        <p:blipFill>
          <a:blip r:embed="rId3"/>
          <a:stretch>
            <a:fillRect/>
          </a:stretch>
        </p:blipFill>
        <p:spPr>
          <a:xfrm>
            <a:off x="676656" y="5184648"/>
            <a:ext cx="219456" cy="219456"/>
          </a:xfrm>
          <a:prstGeom prst="rect">
            <a:avLst/>
          </a:prstGeom>
        </p:spPr>
      </p:pic>
      <p:sp>
        <p:nvSpPr>
          <p:cNvPr id="18" name="Text 11"/>
          <p:cNvSpPr/>
          <p:nvPr/>
        </p:nvSpPr>
        <p:spPr>
          <a:xfrm>
            <a:off x="1097280" y="5093208"/>
            <a:ext cx="4754880" cy="457200"/>
          </a:xfrm>
          <a:prstGeom prst="rect">
            <a:avLst/>
          </a:prstGeom>
          <a:noFill/>
          <a:ln/>
        </p:spPr>
        <p:txBody>
          <a:bodyPr wrap="square" lIns="0" tIns="0" rIns="0" bIns="0" rtlCol="0" anchor="ctr"/>
          <a:lstStyle/>
          <a:p>
            <a:pPr marL="0" indent="0">
              <a:buNone/>
            </a:pPr>
            <a:r>
              <a:rPr lang="en-US" sz="1400" dirty="0">
                <a:solidFill>
                  <a:srgbClr val="F5F3FA"/>
                </a:solidFill>
                <a:latin typeface="Calibri" pitchFamily="34" charset="0"/>
                <a:ea typeface="Calibri" pitchFamily="34" charset="-122"/>
                <a:cs typeface="Calibri" pitchFamily="34" charset="-120"/>
              </a:rPr>
              <a:t>Compte à rebours en temps réel</a:t>
            </a:r>
            <a:endParaRPr lang="en-US" sz="1400" dirty="0"/>
          </a:p>
        </p:txBody>
      </p:sp>
      <p:sp>
        <p:nvSpPr>
          <p:cNvPr id="19" name="Shape 12"/>
          <p:cNvSpPr/>
          <p:nvPr/>
        </p:nvSpPr>
        <p:spPr>
          <a:xfrm>
            <a:off x="6309360" y="1929384"/>
            <a:ext cx="292608" cy="292608"/>
          </a:xfrm>
          <a:prstGeom prst="ellipse">
            <a:avLst/>
          </a:prstGeom>
          <a:solidFill>
            <a:srgbClr val="8B5CF6">
              <a:alpha val="18000"/>
            </a:srgbClr>
          </a:solidFill>
          <a:ln/>
        </p:spPr>
      </p:sp>
      <p:pic>
        <p:nvPicPr>
          <p:cNvPr id="20" name="Image 5" descr="/home/claude/pptx_project/icons/check_A78BFA.png"/>
          <p:cNvPicPr>
            <a:picLocks noChangeAspect="1"/>
          </p:cNvPicPr>
          <p:nvPr/>
        </p:nvPicPr>
        <p:blipFill>
          <a:blip r:embed="rId3"/>
          <a:stretch>
            <a:fillRect/>
          </a:stretch>
        </p:blipFill>
        <p:spPr>
          <a:xfrm>
            <a:off x="6345936" y="1965960"/>
            <a:ext cx="219456" cy="219456"/>
          </a:xfrm>
          <a:prstGeom prst="rect">
            <a:avLst/>
          </a:prstGeom>
        </p:spPr>
      </p:pic>
      <p:sp>
        <p:nvSpPr>
          <p:cNvPr id="21" name="Text 13"/>
          <p:cNvSpPr/>
          <p:nvPr/>
        </p:nvSpPr>
        <p:spPr>
          <a:xfrm>
            <a:off x="6766560" y="1874520"/>
            <a:ext cx="4754880" cy="457200"/>
          </a:xfrm>
          <a:prstGeom prst="rect">
            <a:avLst/>
          </a:prstGeom>
          <a:noFill/>
          <a:ln/>
        </p:spPr>
        <p:txBody>
          <a:bodyPr wrap="square" lIns="0" tIns="0" rIns="0" bIns="0" rtlCol="0" anchor="ctr"/>
          <a:lstStyle/>
          <a:p>
            <a:pPr marL="0" indent="0">
              <a:buNone/>
            </a:pPr>
            <a:r>
              <a:rPr lang="en-US" sz="1400" dirty="0">
                <a:solidFill>
                  <a:srgbClr val="F5F3FA"/>
                </a:solidFill>
                <a:latin typeface="Calibri" pitchFamily="34" charset="0"/>
                <a:ea typeface="Calibri" pitchFamily="34" charset="-122"/>
                <a:cs typeface="Calibri" pitchFamily="34" charset="-120"/>
              </a:rPr>
              <a:t>Compteurs animés sur les chiffres clés</a:t>
            </a:r>
            <a:endParaRPr lang="en-US" sz="1400" dirty="0"/>
          </a:p>
        </p:txBody>
      </p:sp>
      <p:sp>
        <p:nvSpPr>
          <p:cNvPr id="22" name="Shape 14"/>
          <p:cNvSpPr/>
          <p:nvPr/>
        </p:nvSpPr>
        <p:spPr>
          <a:xfrm>
            <a:off x="6309360" y="2734056"/>
            <a:ext cx="292608" cy="292608"/>
          </a:xfrm>
          <a:prstGeom prst="ellipse">
            <a:avLst/>
          </a:prstGeom>
          <a:solidFill>
            <a:srgbClr val="8B5CF6">
              <a:alpha val="18000"/>
            </a:srgbClr>
          </a:solidFill>
          <a:ln/>
        </p:spPr>
      </p:sp>
      <p:pic>
        <p:nvPicPr>
          <p:cNvPr id="23" name="Image 6" descr="/home/claude/pptx_project/icons/check_A78BFA.png"/>
          <p:cNvPicPr>
            <a:picLocks noChangeAspect="1"/>
          </p:cNvPicPr>
          <p:nvPr/>
        </p:nvPicPr>
        <p:blipFill>
          <a:blip r:embed="rId3"/>
          <a:stretch>
            <a:fillRect/>
          </a:stretch>
        </p:blipFill>
        <p:spPr>
          <a:xfrm>
            <a:off x="6345936" y="2770632"/>
            <a:ext cx="219456" cy="219456"/>
          </a:xfrm>
          <a:prstGeom prst="rect">
            <a:avLst/>
          </a:prstGeom>
        </p:spPr>
      </p:pic>
      <p:sp>
        <p:nvSpPr>
          <p:cNvPr id="24" name="Text 15"/>
          <p:cNvSpPr/>
          <p:nvPr/>
        </p:nvSpPr>
        <p:spPr>
          <a:xfrm>
            <a:off x="6766560" y="2679192"/>
            <a:ext cx="4754880" cy="457200"/>
          </a:xfrm>
          <a:prstGeom prst="rect">
            <a:avLst/>
          </a:prstGeom>
          <a:noFill/>
          <a:ln/>
        </p:spPr>
        <p:txBody>
          <a:bodyPr wrap="square" lIns="0" tIns="0" rIns="0" bIns="0" rtlCol="0" anchor="ctr"/>
          <a:lstStyle/>
          <a:p>
            <a:pPr marL="0" indent="0">
              <a:buNone/>
            </a:pPr>
            <a:r>
              <a:rPr lang="en-US" sz="1400" dirty="0">
                <a:solidFill>
                  <a:srgbClr val="F5F3FA"/>
                </a:solidFill>
                <a:latin typeface="Calibri" pitchFamily="34" charset="0"/>
                <a:ea typeface="Calibri" pitchFamily="34" charset="-122"/>
                <a:cs typeface="Calibri" pitchFamily="34" charset="-120"/>
              </a:rPr>
              <a:t>Onglets du programme (3 jours)</a:t>
            </a:r>
            <a:endParaRPr lang="en-US" sz="1400" dirty="0"/>
          </a:p>
        </p:txBody>
      </p:sp>
      <p:sp>
        <p:nvSpPr>
          <p:cNvPr id="25" name="Shape 16"/>
          <p:cNvSpPr/>
          <p:nvPr/>
        </p:nvSpPr>
        <p:spPr>
          <a:xfrm>
            <a:off x="6309360" y="3538728"/>
            <a:ext cx="292608" cy="292608"/>
          </a:xfrm>
          <a:prstGeom prst="ellipse">
            <a:avLst/>
          </a:prstGeom>
          <a:solidFill>
            <a:srgbClr val="8B5CF6">
              <a:alpha val="18000"/>
            </a:srgbClr>
          </a:solidFill>
          <a:ln/>
        </p:spPr>
      </p:sp>
      <p:pic>
        <p:nvPicPr>
          <p:cNvPr id="26" name="Image 7" descr="/home/claude/pptx_project/icons/check_A78BFA.png"/>
          <p:cNvPicPr>
            <a:picLocks noChangeAspect="1"/>
          </p:cNvPicPr>
          <p:nvPr/>
        </p:nvPicPr>
        <p:blipFill>
          <a:blip r:embed="rId3"/>
          <a:stretch>
            <a:fillRect/>
          </a:stretch>
        </p:blipFill>
        <p:spPr>
          <a:xfrm>
            <a:off x="6345936" y="3575304"/>
            <a:ext cx="219456" cy="219456"/>
          </a:xfrm>
          <a:prstGeom prst="rect">
            <a:avLst/>
          </a:prstGeom>
        </p:spPr>
      </p:pic>
      <p:sp>
        <p:nvSpPr>
          <p:cNvPr id="27" name="Text 17"/>
          <p:cNvSpPr/>
          <p:nvPr/>
        </p:nvSpPr>
        <p:spPr>
          <a:xfrm>
            <a:off x="6766560" y="3483864"/>
            <a:ext cx="4754880" cy="457200"/>
          </a:xfrm>
          <a:prstGeom prst="rect">
            <a:avLst/>
          </a:prstGeom>
          <a:noFill/>
          <a:ln/>
        </p:spPr>
        <p:txBody>
          <a:bodyPr wrap="square" lIns="0" tIns="0" rIns="0" bIns="0" rtlCol="0" anchor="ctr"/>
          <a:lstStyle/>
          <a:p>
            <a:pPr marL="0" indent="0">
              <a:buNone/>
            </a:pPr>
            <a:r>
              <a:rPr lang="en-US" sz="1400" dirty="0">
                <a:solidFill>
                  <a:srgbClr val="F5F3FA"/>
                </a:solidFill>
                <a:latin typeface="Calibri" pitchFamily="34" charset="0"/>
                <a:ea typeface="Calibri" pitchFamily="34" charset="-122"/>
                <a:cs typeface="Calibri" pitchFamily="34" charset="-120"/>
              </a:rPr>
              <a:t>Filtrage dynamique des intervenants</a:t>
            </a:r>
            <a:endParaRPr lang="en-US" sz="1400" dirty="0"/>
          </a:p>
        </p:txBody>
      </p:sp>
      <p:sp>
        <p:nvSpPr>
          <p:cNvPr id="28" name="Shape 18"/>
          <p:cNvSpPr/>
          <p:nvPr/>
        </p:nvSpPr>
        <p:spPr>
          <a:xfrm>
            <a:off x="6309360" y="4343400"/>
            <a:ext cx="292608" cy="292608"/>
          </a:xfrm>
          <a:prstGeom prst="ellipse">
            <a:avLst/>
          </a:prstGeom>
          <a:solidFill>
            <a:srgbClr val="8B5CF6">
              <a:alpha val="18000"/>
            </a:srgbClr>
          </a:solidFill>
          <a:ln/>
        </p:spPr>
      </p:sp>
      <p:pic>
        <p:nvPicPr>
          <p:cNvPr id="29" name="Image 8" descr="/home/claude/pptx_project/icons/check_A78BFA.png"/>
          <p:cNvPicPr>
            <a:picLocks noChangeAspect="1"/>
          </p:cNvPicPr>
          <p:nvPr/>
        </p:nvPicPr>
        <p:blipFill>
          <a:blip r:embed="rId3"/>
          <a:stretch>
            <a:fillRect/>
          </a:stretch>
        </p:blipFill>
        <p:spPr>
          <a:xfrm>
            <a:off x="6345936" y="4379976"/>
            <a:ext cx="219456" cy="219456"/>
          </a:xfrm>
          <a:prstGeom prst="rect">
            <a:avLst/>
          </a:prstGeom>
        </p:spPr>
      </p:pic>
      <p:sp>
        <p:nvSpPr>
          <p:cNvPr id="30" name="Text 19"/>
          <p:cNvSpPr/>
          <p:nvPr/>
        </p:nvSpPr>
        <p:spPr>
          <a:xfrm>
            <a:off x="6766560" y="4288536"/>
            <a:ext cx="4754880" cy="457200"/>
          </a:xfrm>
          <a:prstGeom prst="rect">
            <a:avLst/>
          </a:prstGeom>
          <a:noFill/>
          <a:ln/>
        </p:spPr>
        <p:txBody>
          <a:bodyPr wrap="square" lIns="0" tIns="0" rIns="0" bIns="0" rtlCol="0" anchor="ctr"/>
          <a:lstStyle/>
          <a:p>
            <a:pPr marL="0" indent="0">
              <a:buNone/>
            </a:pPr>
            <a:r>
              <a:rPr lang="en-US" sz="1400" dirty="0">
                <a:solidFill>
                  <a:srgbClr val="F5F3FA"/>
                </a:solidFill>
                <a:latin typeface="Calibri" pitchFamily="34" charset="0"/>
                <a:ea typeface="Calibri" pitchFamily="34" charset="-122"/>
                <a:cs typeface="Calibri" pitchFamily="34" charset="-120"/>
              </a:rPr>
              <a:t>Validation complète du formulaire</a:t>
            </a:r>
            <a:endParaRPr lang="en-US" sz="1400" dirty="0"/>
          </a:p>
        </p:txBody>
      </p:sp>
      <p:sp>
        <p:nvSpPr>
          <p:cNvPr id="31" name="Shape 20"/>
          <p:cNvSpPr/>
          <p:nvPr/>
        </p:nvSpPr>
        <p:spPr>
          <a:xfrm>
            <a:off x="6309360" y="5148072"/>
            <a:ext cx="292608" cy="292608"/>
          </a:xfrm>
          <a:prstGeom prst="ellipse">
            <a:avLst/>
          </a:prstGeom>
          <a:solidFill>
            <a:srgbClr val="8B5CF6">
              <a:alpha val="18000"/>
            </a:srgbClr>
          </a:solidFill>
          <a:ln/>
        </p:spPr>
      </p:sp>
      <p:pic>
        <p:nvPicPr>
          <p:cNvPr id="32" name="Image 9" descr="/home/claude/pptx_project/icons/check_A78BFA.png"/>
          <p:cNvPicPr>
            <a:picLocks noChangeAspect="1"/>
          </p:cNvPicPr>
          <p:nvPr/>
        </p:nvPicPr>
        <p:blipFill>
          <a:blip r:embed="rId3"/>
          <a:stretch>
            <a:fillRect/>
          </a:stretch>
        </p:blipFill>
        <p:spPr>
          <a:xfrm>
            <a:off x="6345936" y="5184648"/>
            <a:ext cx="219456" cy="219456"/>
          </a:xfrm>
          <a:prstGeom prst="rect">
            <a:avLst/>
          </a:prstGeom>
        </p:spPr>
      </p:pic>
      <p:sp>
        <p:nvSpPr>
          <p:cNvPr id="33" name="Text 21"/>
          <p:cNvSpPr/>
          <p:nvPr/>
        </p:nvSpPr>
        <p:spPr>
          <a:xfrm>
            <a:off x="6766560" y="5093208"/>
            <a:ext cx="4754880" cy="457200"/>
          </a:xfrm>
          <a:prstGeom prst="rect">
            <a:avLst/>
          </a:prstGeom>
          <a:noFill/>
          <a:ln/>
        </p:spPr>
        <p:txBody>
          <a:bodyPr wrap="square" lIns="0" tIns="0" rIns="0" bIns="0" rtlCol="0" anchor="ctr"/>
          <a:lstStyle/>
          <a:p>
            <a:pPr marL="0" indent="0">
              <a:buNone/>
            </a:pPr>
            <a:r>
              <a:rPr lang="en-US" sz="1400" dirty="0">
                <a:solidFill>
                  <a:srgbClr val="F5F3FA"/>
                </a:solidFill>
                <a:latin typeface="Calibri" pitchFamily="34" charset="0"/>
                <a:ea typeface="Calibri" pitchFamily="34" charset="-122"/>
                <a:cs typeface="Calibri" pitchFamily="34" charset="-120"/>
              </a:rPr>
              <a:t>Bouton retour en haut + année dynamique</a:t>
            </a:r>
            <a:endParaRPr lang="en-US" sz="1400" dirty="0"/>
          </a:p>
        </p:txBody>
      </p:sp>
      <p:sp>
        <p:nvSpPr>
          <p:cNvPr id="34" name="Text 22"/>
          <p:cNvSpPr/>
          <p:nvPr/>
        </p:nvSpPr>
        <p:spPr>
          <a:xfrm>
            <a:off x="457200" y="6537960"/>
            <a:ext cx="5486400" cy="274320"/>
          </a:xfrm>
          <a:prstGeom prst="rect">
            <a:avLst/>
          </a:prstGeom>
          <a:noFill/>
          <a:ln/>
        </p:spPr>
        <p:txBody>
          <a:bodyPr wrap="square" lIns="0" tIns="0" rIns="0" bIns="0" rtlCol="0" anchor="ctr"/>
          <a:lstStyle/>
          <a:p>
            <a:pPr marL="0" indent="0">
              <a:buNone/>
            </a:pPr>
            <a:r>
              <a:rPr lang="en-US" sz="1000" dirty="0">
                <a:solidFill>
                  <a:srgbClr val="9A94B3"/>
                </a:solidFill>
                <a:latin typeface="Calibri" pitchFamily="34" charset="0"/>
                <a:ea typeface="Calibri" pitchFamily="34" charset="-122"/>
                <a:cs typeface="Calibri" pitchFamily="34" charset="-120"/>
              </a:rPr>
              <a:t>AfriConnect Summit 2026 — Projet Web L1</a:t>
            </a:r>
            <a:endParaRPr lang="en-US" sz="1000" dirty="0"/>
          </a:p>
        </p:txBody>
      </p:sp>
      <p:sp>
        <p:nvSpPr>
          <p:cNvPr id="35" name="Text 23"/>
          <p:cNvSpPr/>
          <p:nvPr/>
        </p:nvSpPr>
        <p:spPr>
          <a:xfrm>
            <a:off x="11338560" y="6537960"/>
            <a:ext cx="457200" cy="274320"/>
          </a:xfrm>
          <a:prstGeom prst="rect">
            <a:avLst/>
          </a:prstGeom>
          <a:noFill/>
          <a:ln/>
        </p:spPr>
        <p:txBody>
          <a:bodyPr wrap="square" lIns="0" tIns="0" rIns="0" bIns="0" rtlCol="0" anchor="ctr"/>
          <a:lstStyle/>
          <a:p>
            <a:pPr marL="0" indent="0" algn="r">
              <a:buNone/>
            </a:pPr>
            <a:r>
              <a:rPr lang="en-US" sz="1000" dirty="0">
                <a:solidFill>
                  <a:srgbClr val="9A94B3"/>
                </a:solidFill>
                <a:latin typeface="Calibri" pitchFamily="34" charset="0"/>
                <a:ea typeface="Calibri" pitchFamily="34" charset="-122"/>
                <a:cs typeface="Calibri" pitchFamily="34" charset="-120"/>
              </a:rPr>
              <a:t>10</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714"/>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lIns="0" tIns="0" rIns="0" bIns="0" rtlCol="0" anchor="ctr"/>
          <a:lstStyle/>
          <a:p>
            <a:pPr marL="0" indent="0">
              <a:buNone/>
            </a:pPr>
            <a:r>
              <a:rPr lang="en-US" sz="1200" b="1" kern="0" spc="200" dirty="0">
                <a:solidFill>
                  <a:srgbClr val="A78BFA"/>
                </a:solidFill>
                <a:latin typeface="Calibri" pitchFamily="34" charset="0"/>
                <a:ea typeface="Calibri" pitchFamily="34" charset="-122"/>
                <a:cs typeface="Calibri" pitchFamily="34" charset="-120"/>
              </a:rPr>
              <a:t>STACK TECHNIQUE</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marL="0" indent="0">
              <a:buNone/>
            </a:pPr>
            <a:r>
              <a:rPr lang="en-US" sz="2600" b="1" dirty="0">
                <a:solidFill>
                  <a:srgbClr val="F5F3FA"/>
                </a:solidFill>
                <a:latin typeface="Calibri" pitchFamily="34" charset="0"/>
                <a:ea typeface="Calibri" pitchFamily="34" charset="-122"/>
                <a:cs typeface="Calibri" pitchFamily="34" charset="-120"/>
              </a:rPr>
              <a:t>Un site 100% vanilla, entièrement responsive</a:t>
            </a:r>
            <a:endParaRPr lang="en-US" sz="2600" dirty="0"/>
          </a:p>
        </p:txBody>
      </p:sp>
      <p:sp>
        <p:nvSpPr>
          <p:cNvPr id="4" name="Shape 2"/>
          <p:cNvSpPr/>
          <p:nvPr/>
        </p:nvSpPr>
        <p:spPr>
          <a:xfrm>
            <a:off x="640080" y="1828800"/>
            <a:ext cx="1645920" cy="502920"/>
          </a:xfrm>
          <a:prstGeom prst="roundRect">
            <a:avLst>
              <a:gd name="adj" fmla="val 50909"/>
            </a:avLst>
          </a:prstGeom>
          <a:solidFill>
            <a:srgbClr val="14101F"/>
          </a:solidFill>
          <a:ln w="12700">
            <a:solidFill>
              <a:srgbClr val="2A2440"/>
            </a:solidFill>
            <a:prstDash val="solid"/>
          </a:ln>
        </p:spPr>
      </p:sp>
      <p:sp>
        <p:nvSpPr>
          <p:cNvPr id="5" name="Text 3"/>
          <p:cNvSpPr/>
          <p:nvPr/>
        </p:nvSpPr>
        <p:spPr>
          <a:xfrm>
            <a:off x="640080" y="1828800"/>
            <a:ext cx="1645920" cy="502920"/>
          </a:xfrm>
          <a:prstGeom prst="rect">
            <a:avLst/>
          </a:prstGeom>
          <a:noFill/>
          <a:ln/>
        </p:spPr>
        <p:txBody>
          <a:bodyPr wrap="square" lIns="0" tIns="0" rIns="0" bIns="0" rtlCol="0" anchor="ctr"/>
          <a:lstStyle/>
          <a:p>
            <a:pPr marL="0" indent="0" algn="ctr">
              <a:buNone/>
            </a:pPr>
            <a:r>
              <a:rPr lang="en-US" sz="1150" b="1" dirty="0">
                <a:solidFill>
                  <a:srgbClr val="A78BFA"/>
                </a:solidFill>
                <a:latin typeface="Calibri" pitchFamily="34" charset="0"/>
                <a:ea typeface="Calibri" pitchFamily="34" charset="-122"/>
                <a:cs typeface="Calibri" pitchFamily="34" charset="-120"/>
              </a:rPr>
              <a:t>HTML5</a:t>
            </a:r>
            <a:endParaRPr lang="en-US" sz="1150" dirty="0"/>
          </a:p>
        </p:txBody>
      </p:sp>
      <p:sp>
        <p:nvSpPr>
          <p:cNvPr id="6" name="Shape 4"/>
          <p:cNvSpPr/>
          <p:nvPr/>
        </p:nvSpPr>
        <p:spPr>
          <a:xfrm>
            <a:off x="2468880" y="1828800"/>
            <a:ext cx="1645920" cy="502920"/>
          </a:xfrm>
          <a:prstGeom prst="roundRect">
            <a:avLst>
              <a:gd name="adj" fmla="val 50909"/>
            </a:avLst>
          </a:prstGeom>
          <a:solidFill>
            <a:srgbClr val="14101F"/>
          </a:solidFill>
          <a:ln w="12700">
            <a:solidFill>
              <a:srgbClr val="2A2440"/>
            </a:solidFill>
            <a:prstDash val="solid"/>
          </a:ln>
        </p:spPr>
      </p:sp>
      <p:sp>
        <p:nvSpPr>
          <p:cNvPr id="7" name="Text 5"/>
          <p:cNvSpPr/>
          <p:nvPr/>
        </p:nvSpPr>
        <p:spPr>
          <a:xfrm>
            <a:off x="2468880" y="1828800"/>
            <a:ext cx="1645920" cy="502920"/>
          </a:xfrm>
          <a:prstGeom prst="rect">
            <a:avLst/>
          </a:prstGeom>
          <a:noFill/>
          <a:ln/>
        </p:spPr>
        <p:txBody>
          <a:bodyPr wrap="square" lIns="0" tIns="0" rIns="0" bIns="0" rtlCol="0" anchor="ctr"/>
          <a:lstStyle/>
          <a:p>
            <a:pPr marL="0" indent="0" algn="ctr">
              <a:buNone/>
            </a:pPr>
            <a:r>
              <a:rPr lang="en-US" sz="1150" b="1" dirty="0">
                <a:solidFill>
                  <a:srgbClr val="A78BFA"/>
                </a:solidFill>
                <a:latin typeface="Calibri" pitchFamily="34" charset="0"/>
                <a:ea typeface="Calibri" pitchFamily="34" charset="-122"/>
                <a:cs typeface="Calibri" pitchFamily="34" charset="-120"/>
              </a:rPr>
              <a:t>CSS3</a:t>
            </a:r>
            <a:endParaRPr lang="en-US" sz="1150" dirty="0"/>
          </a:p>
        </p:txBody>
      </p:sp>
      <p:sp>
        <p:nvSpPr>
          <p:cNvPr id="8" name="Shape 6"/>
          <p:cNvSpPr/>
          <p:nvPr/>
        </p:nvSpPr>
        <p:spPr>
          <a:xfrm>
            <a:off x="4297680" y="1828800"/>
            <a:ext cx="1645920" cy="502920"/>
          </a:xfrm>
          <a:prstGeom prst="roundRect">
            <a:avLst>
              <a:gd name="adj" fmla="val 50909"/>
            </a:avLst>
          </a:prstGeom>
          <a:solidFill>
            <a:srgbClr val="14101F"/>
          </a:solidFill>
          <a:ln w="12700">
            <a:solidFill>
              <a:srgbClr val="2A2440"/>
            </a:solidFill>
            <a:prstDash val="solid"/>
          </a:ln>
        </p:spPr>
      </p:sp>
      <p:sp>
        <p:nvSpPr>
          <p:cNvPr id="9" name="Text 7"/>
          <p:cNvSpPr/>
          <p:nvPr/>
        </p:nvSpPr>
        <p:spPr>
          <a:xfrm>
            <a:off x="4297680" y="1828800"/>
            <a:ext cx="1645920" cy="502920"/>
          </a:xfrm>
          <a:prstGeom prst="rect">
            <a:avLst/>
          </a:prstGeom>
          <a:noFill/>
          <a:ln/>
        </p:spPr>
        <p:txBody>
          <a:bodyPr wrap="square" lIns="0" tIns="0" rIns="0" bIns="0" rtlCol="0" anchor="ctr"/>
          <a:lstStyle/>
          <a:p>
            <a:pPr marL="0" indent="0" algn="ctr">
              <a:buNone/>
            </a:pPr>
            <a:r>
              <a:rPr lang="en-US" sz="1150" b="1" dirty="0">
                <a:solidFill>
                  <a:srgbClr val="A78BFA"/>
                </a:solidFill>
                <a:latin typeface="Calibri" pitchFamily="34" charset="0"/>
                <a:ea typeface="Calibri" pitchFamily="34" charset="-122"/>
                <a:cs typeface="Calibri" pitchFamily="34" charset="-120"/>
              </a:rPr>
              <a:t>JavaScript</a:t>
            </a:r>
            <a:endParaRPr lang="en-US" sz="1150" dirty="0"/>
          </a:p>
        </p:txBody>
      </p:sp>
      <p:sp>
        <p:nvSpPr>
          <p:cNvPr id="10" name="Shape 8"/>
          <p:cNvSpPr/>
          <p:nvPr/>
        </p:nvSpPr>
        <p:spPr>
          <a:xfrm>
            <a:off x="640080" y="2514600"/>
            <a:ext cx="1645920" cy="502920"/>
          </a:xfrm>
          <a:prstGeom prst="roundRect">
            <a:avLst>
              <a:gd name="adj" fmla="val 50909"/>
            </a:avLst>
          </a:prstGeom>
          <a:solidFill>
            <a:srgbClr val="14101F"/>
          </a:solidFill>
          <a:ln w="12700">
            <a:solidFill>
              <a:srgbClr val="2A2440"/>
            </a:solidFill>
            <a:prstDash val="solid"/>
          </a:ln>
        </p:spPr>
      </p:sp>
      <p:sp>
        <p:nvSpPr>
          <p:cNvPr id="11" name="Text 9"/>
          <p:cNvSpPr/>
          <p:nvPr/>
        </p:nvSpPr>
        <p:spPr>
          <a:xfrm>
            <a:off x="640080" y="2514600"/>
            <a:ext cx="1645920" cy="502920"/>
          </a:xfrm>
          <a:prstGeom prst="rect">
            <a:avLst/>
          </a:prstGeom>
          <a:noFill/>
          <a:ln/>
        </p:spPr>
        <p:txBody>
          <a:bodyPr wrap="square" lIns="0" tIns="0" rIns="0" bIns="0" rtlCol="0" anchor="ctr"/>
          <a:lstStyle/>
          <a:p>
            <a:pPr marL="0" indent="0" algn="ctr">
              <a:buNone/>
            </a:pPr>
            <a:r>
              <a:rPr lang="en-US" sz="1150" b="1" dirty="0">
                <a:solidFill>
                  <a:srgbClr val="A78BFA"/>
                </a:solidFill>
                <a:latin typeface="Calibri" pitchFamily="34" charset="0"/>
                <a:ea typeface="Calibri" pitchFamily="34" charset="-122"/>
                <a:cs typeface="Calibri" pitchFamily="34" charset="-120"/>
              </a:rPr>
              <a:t>Google Fonts</a:t>
            </a:r>
            <a:endParaRPr lang="en-US" sz="1150" dirty="0"/>
          </a:p>
        </p:txBody>
      </p:sp>
      <p:sp>
        <p:nvSpPr>
          <p:cNvPr id="12" name="Shape 10"/>
          <p:cNvSpPr/>
          <p:nvPr/>
        </p:nvSpPr>
        <p:spPr>
          <a:xfrm>
            <a:off x="2468880" y="2514600"/>
            <a:ext cx="1645920" cy="502920"/>
          </a:xfrm>
          <a:prstGeom prst="roundRect">
            <a:avLst>
              <a:gd name="adj" fmla="val 50909"/>
            </a:avLst>
          </a:prstGeom>
          <a:solidFill>
            <a:srgbClr val="14101F"/>
          </a:solidFill>
          <a:ln w="12700">
            <a:solidFill>
              <a:srgbClr val="2A2440"/>
            </a:solidFill>
            <a:prstDash val="solid"/>
          </a:ln>
        </p:spPr>
      </p:sp>
      <p:sp>
        <p:nvSpPr>
          <p:cNvPr id="13" name="Text 11"/>
          <p:cNvSpPr/>
          <p:nvPr/>
        </p:nvSpPr>
        <p:spPr>
          <a:xfrm>
            <a:off x="2468880" y="2514600"/>
            <a:ext cx="1645920" cy="502920"/>
          </a:xfrm>
          <a:prstGeom prst="rect">
            <a:avLst/>
          </a:prstGeom>
          <a:noFill/>
          <a:ln/>
        </p:spPr>
        <p:txBody>
          <a:bodyPr wrap="square" lIns="0" tIns="0" rIns="0" bIns="0" rtlCol="0" anchor="ctr"/>
          <a:lstStyle/>
          <a:p>
            <a:pPr marL="0" indent="0" algn="ctr">
              <a:buNone/>
            </a:pPr>
            <a:r>
              <a:rPr lang="en-US" sz="1150" b="1" dirty="0">
                <a:solidFill>
                  <a:srgbClr val="A78BFA"/>
                </a:solidFill>
                <a:latin typeface="Calibri" pitchFamily="34" charset="0"/>
                <a:ea typeface="Calibri" pitchFamily="34" charset="-122"/>
                <a:cs typeface="Calibri" pitchFamily="34" charset="-120"/>
              </a:rPr>
              <a:t>Bootstrap Icons</a:t>
            </a:r>
            <a:endParaRPr lang="en-US" sz="1150" dirty="0"/>
          </a:p>
        </p:txBody>
      </p:sp>
      <p:sp>
        <p:nvSpPr>
          <p:cNvPr id="14" name="Shape 12"/>
          <p:cNvSpPr/>
          <p:nvPr/>
        </p:nvSpPr>
        <p:spPr>
          <a:xfrm>
            <a:off x="4297680" y="2514600"/>
            <a:ext cx="1645920" cy="502920"/>
          </a:xfrm>
          <a:prstGeom prst="roundRect">
            <a:avLst>
              <a:gd name="adj" fmla="val 50909"/>
            </a:avLst>
          </a:prstGeom>
          <a:solidFill>
            <a:srgbClr val="14101F"/>
          </a:solidFill>
          <a:ln w="12700">
            <a:solidFill>
              <a:srgbClr val="2A2440"/>
            </a:solidFill>
            <a:prstDash val="solid"/>
          </a:ln>
        </p:spPr>
      </p:sp>
      <p:sp>
        <p:nvSpPr>
          <p:cNvPr id="15" name="Text 13"/>
          <p:cNvSpPr/>
          <p:nvPr/>
        </p:nvSpPr>
        <p:spPr>
          <a:xfrm>
            <a:off x="4297680" y="2514600"/>
            <a:ext cx="1645920" cy="502920"/>
          </a:xfrm>
          <a:prstGeom prst="rect">
            <a:avLst/>
          </a:prstGeom>
          <a:noFill/>
          <a:ln/>
        </p:spPr>
        <p:txBody>
          <a:bodyPr wrap="square" lIns="0" tIns="0" rIns="0" bIns="0" rtlCol="0" anchor="ctr"/>
          <a:lstStyle/>
          <a:p>
            <a:pPr marL="0" indent="0" algn="ctr">
              <a:buNone/>
            </a:pPr>
            <a:r>
              <a:rPr lang="en-US" sz="1150" b="1" dirty="0">
                <a:solidFill>
                  <a:srgbClr val="A78BFA"/>
                </a:solidFill>
                <a:latin typeface="Calibri" pitchFamily="34" charset="0"/>
                <a:ea typeface="Calibri" pitchFamily="34" charset="-122"/>
                <a:cs typeface="Calibri" pitchFamily="34" charset="-120"/>
              </a:rPr>
              <a:t>Git &amp; GitHub Pages</a:t>
            </a:r>
            <a:endParaRPr lang="en-US" sz="1150" dirty="0"/>
          </a:p>
        </p:txBody>
      </p:sp>
      <p:sp>
        <p:nvSpPr>
          <p:cNvPr id="16" name="Text 14"/>
          <p:cNvSpPr/>
          <p:nvPr/>
        </p:nvSpPr>
        <p:spPr>
          <a:xfrm>
            <a:off x="640080" y="3566160"/>
            <a:ext cx="5486400" cy="365760"/>
          </a:xfrm>
          <a:prstGeom prst="rect">
            <a:avLst/>
          </a:prstGeom>
          <a:noFill/>
          <a:ln/>
        </p:spPr>
        <p:txBody>
          <a:bodyPr wrap="square" lIns="0" tIns="0" rIns="0" bIns="0" rtlCol="0" anchor="ctr"/>
          <a:lstStyle/>
          <a:p>
            <a:pPr marL="0" indent="0">
              <a:buNone/>
            </a:pPr>
            <a:r>
              <a:rPr lang="en-US" sz="1600" b="1" dirty="0">
                <a:solidFill>
                  <a:srgbClr val="F5F3FA"/>
                </a:solidFill>
                <a:latin typeface="Calibri" pitchFamily="34" charset="0"/>
                <a:ea typeface="Calibri" pitchFamily="34" charset="-122"/>
                <a:cs typeface="Calibri" pitchFamily="34" charset="-120"/>
              </a:rPr>
              <a:t>Breakpoints responsive</a:t>
            </a:r>
            <a:endParaRPr lang="en-US" sz="1600" dirty="0"/>
          </a:p>
        </p:txBody>
      </p:sp>
      <p:sp>
        <p:nvSpPr>
          <p:cNvPr id="17" name="Shape 15"/>
          <p:cNvSpPr/>
          <p:nvPr/>
        </p:nvSpPr>
        <p:spPr>
          <a:xfrm>
            <a:off x="640080" y="4114800"/>
            <a:ext cx="1828800" cy="1920240"/>
          </a:xfrm>
          <a:prstGeom prst="roundRect">
            <a:avLst>
              <a:gd name="adj" fmla="val 5000"/>
            </a:avLst>
          </a:prstGeom>
          <a:solidFill>
            <a:srgbClr val="14101F"/>
          </a:solidFill>
          <a:ln w="12700">
            <a:solidFill>
              <a:srgbClr val="2A2440"/>
            </a:solidFill>
            <a:prstDash val="solid"/>
          </a:ln>
        </p:spPr>
      </p:sp>
      <p:sp>
        <p:nvSpPr>
          <p:cNvPr id="18" name="Shape 16"/>
          <p:cNvSpPr/>
          <p:nvPr/>
        </p:nvSpPr>
        <p:spPr>
          <a:xfrm>
            <a:off x="1234440" y="4343400"/>
            <a:ext cx="640080" cy="640080"/>
          </a:xfrm>
          <a:prstGeom prst="ellipse">
            <a:avLst/>
          </a:prstGeom>
          <a:solidFill>
            <a:srgbClr val="8B5CF6">
              <a:alpha val="18000"/>
            </a:srgbClr>
          </a:solidFill>
          <a:ln/>
        </p:spPr>
      </p:sp>
      <p:pic>
        <p:nvPicPr>
          <p:cNvPr id="19" name="Image 0" descr="/home/claude/pptx_project/icons/smartphone_FFFFFF.png"/>
          <p:cNvPicPr>
            <a:picLocks noChangeAspect="1"/>
          </p:cNvPicPr>
          <p:nvPr/>
        </p:nvPicPr>
        <p:blipFill>
          <a:blip r:embed="rId3"/>
          <a:stretch>
            <a:fillRect/>
          </a:stretch>
        </p:blipFill>
        <p:spPr>
          <a:xfrm>
            <a:off x="1388059" y="4497019"/>
            <a:ext cx="332842" cy="332842"/>
          </a:xfrm>
          <a:prstGeom prst="rect">
            <a:avLst/>
          </a:prstGeom>
        </p:spPr>
      </p:pic>
      <p:sp>
        <p:nvSpPr>
          <p:cNvPr id="20" name="Text 17"/>
          <p:cNvSpPr/>
          <p:nvPr/>
        </p:nvSpPr>
        <p:spPr>
          <a:xfrm>
            <a:off x="640080" y="5074920"/>
            <a:ext cx="1828800" cy="320040"/>
          </a:xfrm>
          <a:prstGeom prst="rect">
            <a:avLst/>
          </a:prstGeom>
          <a:noFill/>
          <a:ln/>
        </p:spPr>
        <p:txBody>
          <a:bodyPr wrap="square" lIns="0" tIns="0" rIns="0" bIns="0" rtlCol="0" anchor="ctr"/>
          <a:lstStyle/>
          <a:p>
            <a:pPr marL="0" indent="0" algn="ctr">
              <a:buNone/>
            </a:pPr>
            <a:r>
              <a:rPr lang="en-US" sz="1400" b="1" dirty="0">
                <a:solidFill>
                  <a:srgbClr val="F5F3FA"/>
                </a:solidFill>
                <a:latin typeface="Calibri" pitchFamily="34" charset="0"/>
                <a:ea typeface="Calibri" pitchFamily="34" charset="-122"/>
                <a:cs typeface="Calibri" pitchFamily="34" charset="-120"/>
              </a:rPr>
              <a:t>375px</a:t>
            </a:r>
            <a:endParaRPr lang="en-US" sz="1400" dirty="0"/>
          </a:p>
        </p:txBody>
      </p:sp>
      <p:sp>
        <p:nvSpPr>
          <p:cNvPr id="21" name="Text 18"/>
          <p:cNvSpPr/>
          <p:nvPr/>
        </p:nvSpPr>
        <p:spPr>
          <a:xfrm>
            <a:off x="731520" y="5394960"/>
            <a:ext cx="1645920" cy="457200"/>
          </a:xfrm>
          <a:prstGeom prst="rect">
            <a:avLst/>
          </a:prstGeom>
          <a:noFill/>
          <a:ln/>
        </p:spPr>
        <p:txBody>
          <a:bodyPr wrap="square" lIns="0" tIns="0" rIns="0" bIns="0" rtlCol="0" anchor="ctr"/>
          <a:lstStyle/>
          <a:p>
            <a:pPr marL="0" indent="0" algn="ctr">
              <a:lnSpc>
                <a:spcPct val="115000"/>
              </a:lnSpc>
              <a:buNone/>
            </a:pPr>
            <a:r>
              <a:rPr lang="en-US" sz="950" dirty="0">
                <a:solidFill>
                  <a:srgbClr val="9A94B3"/>
                </a:solidFill>
                <a:latin typeface="Calibri" pitchFamily="34" charset="0"/>
                <a:ea typeface="Calibri" pitchFamily="34" charset="-122"/>
                <a:cs typeface="Calibri" pitchFamily="34" charset="-120"/>
              </a:rPr>
              <a:t>Mobile — 1 colonne</a:t>
            </a:r>
            <a:endParaRPr lang="en-US" sz="950" dirty="0"/>
          </a:p>
        </p:txBody>
      </p:sp>
      <p:sp>
        <p:nvSpPr>
          <p:cNvPr id="22" name="Shape 19"/>
          <p:cNvSpPr/>
          <p:nvPr/>
        </p:nvSpPr>
        <p:spPr>
          <a:xfrm>
            <a:off x="2651760" y="4114800"/>
            <a:ext cx="1828800" cy="1920240"/>
          </a:xfrm>
          <a:prstGeom prst="roundRect">
            <a:avLst>
              <a:gd name="adj" fmla="val 5000"/>
            </a:avLst>
          </a:prstGeom>
          <a:solidFill>
            <a:srgbClr val="14101F"/>
          </a:solidFill>
          <a:ln w="12700">
            <a:solidFill>
              <a:srgbClr val="2A2440"/>
            </a:solidFill>
            <a:prstDash val="solid"/>
          </a:ln>
        </p:spPr>
      </p:sp>
      <p:sp>
        <p:nvSpPr>
          <p:cNvPr id="23" name="Shape 20"/>
          <p:cNvSpPr/>
          <p:nvPr/>
        </p:nvSpPr>
        <p:spPr>
          <a:xfrm>
            <a:off x="3246120" y="4343400"/>
            <a:ext cx="640080" cy="640080"/>
          </a:xfrm>
          <a:prstGeom prst="ellipse">
            <a:avLst/>
          </a:prstGeom>
          <a:solidFill>
            <a:srgbClr val="8B5CF6">
              <a:alpha val="18000"/>
            </a:srgbClr>
          </a:solidFill>
          <a:ln/>
        </p:spPr>
      </p:sp>
      <p:pic>
        <p:nvPicPr>
          <p:cNvPr id="24" name="Image 1" descr="/home/claude/pptx_project/icons/layout_FFFFFF.png"/>
          <p:cNvPicPr>
            <a:picLocks noChangeAspect="1"/>
          </p:cNvPicPr>
          <p:nvPr/>
        </p:nvPicPr>
        <p:blipFill>
          <a:blip r:embed="rId4"/>
          <a:stretch>
            <a:fillRect/>
          </a:stretch>
        </p:blipFill>
        <p:spPr>
          <a:xfrm>
            <a:off x="3399739" y="4497019"/>
            <a:ext cx="332842" cy="332842"/>
          </a:xfrm>
          <a:prstGeom prst="rect">
            <a:avLst/>
          </a:prstGeom>
        </p:spPr>
      </p:pic>
      <p:sp>
        <p:nvSpPr>
          <p:cNvPr id="25" name="Text 21"/>
          <p:cNvSpPr/>
          <p:nvPr/>
        </p:nvSpPr>
        <p:spPr>
          <a:xfrm>
            <a:off x="2651760" y="5074920"/>
            <a:ext cx="1828800" cy="320040"/>
          </a:xfrm>
          <a:prstGeom prst="rect">
            <a:avLst/>
          </a:prstGeom>
          <a:noFill/>
          <a:ln/>
        </p:spPr>
        <p:txBody>
          <a:bodyPr wrap="square" lIns="0" tIns="0" rIns="0" bIns="0" rtlCol="0" anchor="ctr"/>
          <a:lstStyle/>
          <a:p>
            <a:pPr marL="0" indent="0" algn="ctr">
              <a:buNone/>
            </a:pPr>
            <a:r>
              <a:rPr lang="en-US" sz="1400" b="1" dirty="0">
                <a:solidFill>
                  <a:srgbClr val="F5F3FA"/>
                </a:solidFill>
                <a:latin typeface="Calibri" pitchFamily="34" charset="0"/>
                <a:ea typeface="Calibri" pitchFamily="34" charset="-122"/>
                <a:cs typeface="Calibri" pitchFamily="34" charset="-120"/>
              </a:rPr>
              <a:t>768px</a:t>
            </a:r>
            <a:endParaRPr lang="en-US" sz="1400" dirty="0"/>
          </a:p>
        </p:txBody>
      </p:sp>
      <p:sp>
        <p:nvSpPr>
          <p:cNvPr id="26" name="Text 22"/>
          <p:cNvSpPr/>
          <p:nvPr/>
        </p:nvSpPr>
        <p:spPr>
          <a:xfrm>
            <a:off x="2743200" y="5394960"/>
            <a:ext cx="1645920" cy="457200"/>
          </a:xfrm>
          <a:prstGeom prst="rect">
            <a:avLst/>
          </a:prstGeom>
          <a:noFill/>
          <a:ln/>
        </p:spPr>
        <p:txBody>
          <a:bodyPr wrap="square" lIns="0" tIns="0" rIns="0" bIns="0" rtlCol="0" anchor="ctr"/>
          <a:lstStyle/>
          <a:p>
            <a:pPr marL="0" indent="0" algn="ctr">
              <a:lnSpc>
                <a:spcPct val="115000"/>
              </a:lnSpc>
              <a:buNone/>
            </a:pPr>
            <a:r>
              <a:rPr lang="en-US" sz="950" dirty="0">
                <a:solidFill>
                  <a:srgbClr val="9A94B3"/>
                </a:solidFill>
                <a:latin typeface="Calibri" pitchFamily="34" charset="0"/>
                <a:ea typeface="Calibri" pitchFamily="34" charset="-122"/>
                <a:cs typeface="Calibri" pitchFamily="34" charset="-120"/>
              </a:rPr>
              <a:t>Tablette — 2 colonnes</a:t>
            </a:r>
            <a:endParaRPr lang="en-US" sz="950" dirty="0"/>
          </a:p>
        </p:txBody>
      </p:sp>
      <p:sp>
        <p:nvSpPr>
          <p:cNvPr id="27" name="Shape 23"/>
          <p:cNvSpPr/>
          <p:nvPr/>
        </p:nvSpPr>
        <p:spPr>
          <a:xfrm>
            <a:off x="4663440" y="4114800"/>
            <a:ext cx="1828800" cy="1920240"/>
          </a:xfrm>
          <a:prstGeom prst="roundRect">
            <a:avLst>
              <a:gd name="adj" fmla="val 5000"/>
            </a:avLst>
          </a:prstGeom>
          <a:solidFill>
            <a:srgbClr val="14101F"/>
          </a:solidFill>
          <a:ln w="12700">
            <a:solidFill>
              <a:srgbClr val="2A2440"/>
            </a:solidFill>
            <a:prstDash val="solid"/>
          </a:ln>
        </p:spPr>
      </p:sp>
      <p:sp>
        <p:nvSpPr>
          <p:cNvPr id="28" name="Shape 24"/>
          <p:cNvSpPr/>
          <p:nvPr/>
        </p:nvSpPr>
        <p:spPr>
          <a:xfrm>
            <a:off x="5257800" y="4343400"/>
            <a:ext cx="640080" cy="640080"/>
          </a:xfrm>
          <a:prstGeom prst="ellipse">
            <a:avLst/>
          </a:prstGeom>
          <a:solidFill>
            <a:srgbClr val="8B5CF6">
              <a:alpha val="18000"/>
            </a:srgbClr>
          </a:solidFill>
          <a:ln/>
        </p:spPr>
      </p:sp>
      <p:pic>
        <p:nvPicPr>
          <p:cNvPr id="29" name="Image 2" descr="/home/claude/pptx_project/icons/home_FFFFFF.png"/>
          <p:cNvPicPr>
            <a:picLocks noChangeAspect="1"/>
          </p:cNvPicPr>
          <p:nvPr/>
        </p:nvPicPr>
        <p:blipFill>
          <a:blip r:embed="rId5"/>
          <a:stretch>
            <a:fillRect/>
          </a:stretch>
        </p:blipFill>
        <p:spPr>
          <a:xfrm>
            <a:off x="5411419" y="4497019"/>
            <a:ext cx="332842" cy="332842"/>
          </a:xfrm>
          <a:prstGeom prst="rect">
            <a:avLst/>
          </a:prstGeom>
        </p:spPr>
      </p:pic>
      <p:sp>
        <p:nvSpPr>
          <p:cNvPr id="30" name="Text 25"/>
          <p:cNvSpPr/>
          <p:nvPr/>
        </p:nvSpPr>
        <p:spPr>
          <a:xfrm>
            <a:off x="4663440" y="5074920"/>
            <a:ext cx="1828800" cy="320040"/>
          </a:xfrm>
          <a:prstGeom prst="rect">
            <a:avLst/>
          </a:prstGeom>
          <a:noFill/>
          <a:ln/>
        </p:spPr>
        <p:txBody>
          <a:bodyPr wrap="square" lIns="0" tIns="0" rIns="0" bIns="0" rtlCol="0" anchor="ctr"/>
          <a:lstStyle/>
          <a:p>
            <a:pPr marL="0" indent="0" algn="ctr">
              <a:buNone/>
            </a:pPr>
            <a:r>
              <a:rPr lang="en-US" sz="1400" b="1" dirty="0">
                <a:solidFill>
                  <a:srgbClr val="F5F3FA"/>
                </a:solidFill>
                <a:latin typeface="Calibri" pitchFamily="34" charset="0"/>
                <a:ea typeface="Calibri" pitchFamily="34" charset="-122"/>
                <a:cs typeface="Calibri" pitchFamily="34" charset="-120"/>
              </a:rPr>
              <a:t>1200px+</a:t>
            </a:r>
            <a:endParaRPr lang="en-US" sz="1400" dirty="0"/>
          </a:p>
        </p:txBody>
      </p:sp>
      <p:sp>
        <p:nvSpPr>
          <p:cNvPr id="31" name="Text 26"/>
          <p:cNvSpPr/>
          <p:nvPr/>
        </p:nvSpPr>
        <p:spPr>
          <a:xfrm>
            <a:off x="4754880" y="5394960"/>
            <a:ext cx="1645920" cy="457200"/>
          </a:xfrm>
          <a:prstGeom prst="rect">
            <a:avLst/>
          </a:prstGeom>
          <a:noFill/>
          <a:ln/>
        </p:spPr>
        <p:txBody>
          <a:bodyPr wrap="square" lIns="0" tIns="0" rIns="0" bIns="0" rtlCol="0" anchor="ctr"/>
          <a:lstStyle/>
          <a:p>
            <a:pPr marL="0" indent="0" algn="ctr">
              <a:lnSpc>
                <a:spcPct val="115000"/>
              </a:lnSpc>
              <a:buNone/>
            </a:pPr>
            <a:r>
              <a:rPr lang="en-US" sz="950" dirty="0">
                <a:solidFill>
                  <a:srgbClr val="9A94B3"/>
                </a:solidFill>
                <a:latin typeface="Calibri" pitchFamily="34" charset="0"/>
                <a:ea typeface="Calibri" pitchFamily="34" charset="-122"/>
                <a:cs typeface="Calibri" pitchFamily="34" charset="-120"/>
              </a:rPr>
              <a:t>Desktop — grille complète</a:t>
            </a:r>
            <a:endParaRPr lang="en-US" sz="950" dirty="0"/>
          </a:p>
        </p:txBody>
      </p:sp>
      <p:sp>
        <p:nvSpPr>
          <p:cNvPr id="32" name="Shape 27"/>
          <p:cNvSpPr/>
          <p:nvPr/>
        </p:nvSpPr>
        <p:spPr>
          <a:xfrm>
            <a:off x="7223760" y="3566160"/>
            <a:ext cx="4297680" cy="2468880"/>
          </a:xfrm>
          <a:prstGeom prst="roundRect">
            <a:avLst>
              <a:gd name="adj" fmla="val 3704"/>
            </a:avLst>
          </a:prstGeom>
          <a:solidFill>
            <a:srgbClr val="14101F"/>
          </a:solidFill>
          <a:ln w="12700">
            <a:solidFill>
              <a:srgbClr val="2A2440"/>
            </a:solidFill>
            <a:prstDash val="solid"/>
          </a:ln>
        </p:spPr>
      </p:sp>
      <p:sp>
        <p:nvSpPr>
          <p:cNvPr id="33" name="Shape 28"/>
          <p:cNvSpPr/>
          <p:nvPr/>
        </p:nvSpPr>
        <p:spPr>
          <a:xfrm>
            <a:off x="7498080" y="3794760"/>
            <a:ext cx="502920" cy="502920"/>
          </a:xfrm>
          <a:prstGeom prst="ellipse">
            <a:avLst/>
          </a:prstGeom>
          <a:solidFill>
            <a:srgbClr val="8B5CF6">
              <a:alpha val="18000"/>
            </a:srgbClr>
          </a:solidFill>
          <a:ln/>
        </p:spPr>
      </p:sp>
      <p:pic>
        <p:nvPicPr>
          <p:cNvPr id="34" name="Image 3" descr="/home/claude/pptx_project/icons/code_FFFFFF.png"/>
          <p:cNvPicPr>
            <a:picLocks noChangeAspect="1"/>
          </p:cNvPicPr>
          <p:nvPr/>
        </p:nvPicPr>
        <p:blipFill>
          <a:blip r:embed="rId6"/>
          <a:stretch>
            <a:fillRect/>
          </a:stretch>
        </p:blipFill>
        <p:spPr>
          <a:xfrm>
            <a:off x="7618781" y="3915461"/>
            <a:ext cx="261518" cy="261518"/>
          </a:xfrm>
          <a:prstGeom prst="rect">
            <a:avLst/>
          </a:prstGeom>
        </p:spPr>
      </p:pic>
      <p:sp>
        <p:nvSpPr>
          <p:cNvPr id="35" name="Text 29"/>
          <p:cNvSpPr/>
          <p:nvPr/>
        </p:nvSpPr>
        <p:spPr>
          <a:xfrm>
            <a:off x="8138160" y="3794760"/>
            <a:ext cx="3200400" cy="320040"/>
          </a:xfrm>
          <a:prstGeom prst="rect">
            <a:avLst/>
          </a:prstGeom>
          <a:noFill/>
          <a:ln/>
        </p:spPr>
        <p:txBody>
          <a:bodyPr wrap="square" lIns="0" tIns="0" rIns="0" bIns="0" rtlCol="0" anchor="ctr"/>
          <a:lstStyle/>
          <a:p>
            <a:pPr marL="0" indent="0">
              <a:buNone/>
            </a:pPr>
            <a:r>
              <a:rPr lang="en-US" sz="1350" b="1" dirty="0">
                <a:solidFill>
                  <a:srgbClr val="F5F3FA"/>
                </a:solidFill>
                <a:latin typeface="Calibri" pitchFamily="34" charset="0"/>
                <a:ea typeface="Calibri" pitchFamily="34" charset="-122"/>
                <a:cs typeface="Calibri" pitchFamily="34" charset="-120"/>
              </a:rPr>
              <a:t>Un script JS partagé, 4 pages</a:t>
            </a:r>
            <a:endParaRPr lang="en-US" sz="1350" dirty="0"/>
          </a:p>
        </p:txBody>
      </p:sp>
      <p:sp>
        <p:nvSpPr>
          <p:cNvPr id="36" name="Text 30"/>
          <p:cNvSpPr/>
          <p:nvPr/>
        </p:nvSpPr>
        <p:spPr>
          <a:xfrm>
            <a:off x="7498080" y="4251960"/>
            <a:ext cx="3840480" cy="1645920"/>
          </a:xfrm>
          <a:prstGeom prst="rect">
            <a:avLst/>
          </a:prstGeom>
          <a:noFill/>
          <a:ln/>
        </p:spPr>
        <p:txBody>
          <a:bodyPr wrap="square" lIns="0" tIns="0" rIns="0" bIns="0" rtlCol="0" anchor="t"/>
          <a:lstStyle/>
          <a:p>
            <a:pPr marL="0" indent="0">
              <a:lnSpc>
                <a:spcPct val="130000"/>
              </a:lnSpc>
              <a:buNone/>
            </a:pPr>
            <a:r>
              <a:rPr lang="en-US" sz="1150" dirty="0">
                <a:solidFill>
                  <a:srgbClr val="9A94B3"/>
                </a:solidFill>
                <a:latin typeface="Calibri" pitchFamily="34" charset="0"/>
                <a:ea typeface="Calibri" pitchFamily="34" charset="-122"/>
                <a:cs typeface="Calibri" pitchFamily="34" charset="-120"/>
              </a:rPr>
              <a:t>Un seul fichier main.js couvre les 4 pages. Chaque fonctionnalité vérifie d'abord l'existence de ses éléments (if élément) pour ne s'exécuter que sur la page concernée, sans jamais bloquer les autres.</a:t>
            </a:r>
            <a:endParaRPr lang="en-US" sz="1150" dirty="0"/>
          </a:p>
        </p:txBody>
      </p:sp>
      <p:sp>
        <p:nvSpPr>
          <p:cNvPr id="37" name="Text 31"/>
          <p:cNvSpPr/>
          <p:nvPr/>
        </p:nvSpPr>
        <p:spPr>
          <a:xfrm>
            <a:off x="457200" y="6537960"/>
            <a:ext cx="5486400" cy="274320"/>
          </a:xfrm>
          <a:prstGeom prst="rect">
            <a:avLst/>
          </a:prstGeom>
          <a:noFill/>
          <a:ln/>
        </p:spPr>
        <p:txBody>
          <a:bodyPr wrap="square" lIns="0" tIns="0" rIns="0" bIns="0" rtlCol="0" anchor="ctr"/>
          <a:lstStyle/>
          <a:p>
            <a:pPr marL="0" indent="0">
              <a:buNone/>
            </a:pPr>
            <a:r>
              <a:rPr lang="en-US" sz="1000" dirty="0">
                <a:solidFill>
                  <a:srgbClr val="9A94B3"/>
                </a:solidFill>
                <a:latin typeface="Calibri" pitchFamily="34" charset="0"/>
                <a:ea typeface="Calibri" pitchFamily="34" charset="-122"/>
                <a:cs typeface="Calibri" pitchFamily="34" charset="-120"/>
              </a:rPr>
              <a:t>AfriConnect Summit 2026 — Projet Web L1</a:t>
            </a:r>
            <a:endParaRPr lang="en-US" sz="1000" dirty="0"/>
          </a:p>
        </p:txBody>
      </p:sp>
      <p:sp>
        <p:nvSpPr>
          <p:cNvPr id="38" name="Text 32"/>
          <p:cNvSpPr/>
          <p:nvPr/>
        </p:nvSpPr>
        <p:spPr>
          <a:xfrm>
            <a:off x="11338560" y="6537960"/>
            <a:ext cx="457200" cy="274320"/>
          </a:xfrm>
          <a:prstGeom prst="rect">
            <a:avLst/>
          </a:prstGeom>
          <a:noFill/>
          <a:ln/>
        </p:spPr>
        <p:txBody>
          <a:bodyPr wrap="square" lIns="0" tIns="0" rIns="0" bIns="0" rtlCol="0" anchor="ctr"/>
          <a:lstStyle/>
          <a:p>
            <a:pPr marL="0" indent="0" algn="r">
              <a:buNone/>
            </a:pPr>
            <a:r>
              <a:rPr lang="en-US" sz="1000" dirty="0">
                <a:solidFill>
                  <a:srgbClr val="9A94B3"/>
                </a:solidFill>
                <a:latin typeface="Calibri" pitchFamily="34" charset="0"/>
                <a:ea typeface="Calibri" pitchFamily="34" charset="-122"/>
                <a:cs typeface="Calibri" pitchFamily="34" charset="-120"/>
              </a:rPr>
              <a:t>11</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714"/>
        </a:solidFill>
        <a:effectLst/>
      </p:bgPr>
    </p:bg>
    <p:spTree>
      <p:nvGrpSpPr>
        <p:cNvPr id="1" name=""/>
        <p:cNvGrpSpPr/>
        <p:nvPr/>
      </p:nvGrpSpPr>
      <p:grpSpPr>
        <a:xfrm>
          <a:off x="0" y="0"/>
          <a:ext cx="0" cy="0"/>
          <a:chOff x="0" y="0"/>
          <a:chExt cx="0" cy="0"/>
        </a:xfrm>
      </p:grpSpPr>
      <p:sp>
        <p:nvSpPr>
          <p:cNvPr id="2" name="Shape 0"/>
          <p:cNvSpPr/>
          <p:nvPr/>
        </p:nvSpPr>
        <p:spPr>
          <a:xfrm>
            <a:off x="5824728" y="1371600"/>
            <a:ext cx="548640" cy="502920"/>
          </a:xfrm>
          <a:prstGeom prst="triangle">
            <a:avLst/>
          </a:prstGeom>
          <a:solidFill>
            <a:srgbClr val="8B5CF6"/>
          </a:solidFill>
          <a:ln/>
        </p:spPr>
      </p:sp>
      <p:sp>
        <p:nvSpPr>
          <p:cNvPr id="3" name="Text 1"/>
          <p:cNvSpPr/>
          <p:nvPr/>
        </p:nvSpPr>
        <p:spPr>
          <a:xfrm>
            <a:off x="914400" y="2148840"/>
            <a:ext cx="10360152" cy="914400"/>
          </a:xfrm>
          <a:prstGeom prst="rect">
            <a:avLst/>
          </a:prstGeom>
          <a:noFill/>
          <a:ln/>
        </p:spPr>
        <p:txBody>
          <a:bodyPr wrap="square" lIns="0" tIns="0" rIns="0" bIns="0" rtlCol="0" anchor="ctr"/>
          <a:lstStyle/>
          <a:p>
            <a:pPr marL="0" indent="0" algn="ctr">
              <a:buNone/>
            </a:pPr>
            <a:r>
              <a:rPr lang="en-US" sz="4400" b="1" dirty="0">
                <a:solidFill>
                  <a:srgbClr val="F5F3FA"/>
                </a:solidFill>
                <a:latin typeface="Calibri" pitchFamily="34" charset="0"/>
                <a:ea typeface="Calibri" pitchFamily="34" charset="-122"/>
                <a:cs typeface="Calibri" pitchFamily="34" charset="-120"/>
              </a:rPr>
              <a:t>Merci !</a:t>
            </a:r>
            <a:endParaRPr lang="en-US" sz="4400" dirty="0"/>
          </a:p>
        </p:txBody>
      </p:sp>
      <p:sp>
        <p:nvSpPr>
          <p:cNvPr id="4" name="Text 2"/>
          <p:cNvSpPr/>
          <p:nvPr/>
        </p:nvSpPr>
        <p:spPr>
          <a:xfrm>
            <a:off x="914400" y="3063240"/>
            <a:ext cx="10360152" cy="457200"/>
          </a:xfrm>
          <a:prstGeom prst="rect">
            <a:avLst/>
          </a:prstGeom>
          <a:noFill/>
          <a:ln/>
        </p:spPr>
        <p:txBody>
          <a:bodyPr wrap="square" lIns="0" tIns="0" rIns="0" bIns="0" rtlCol="0" anchor="ctr"/>
          <a:lstStyle/>
          <a:p>
            <a:pPr marL="0" indent="0" algn="ctr">
              <a:buNone/>
            </a:pPr>
            <a:r>
              <a:rPr lang="en-US" sz="1500" dirty="0">
                <a:solidFill>
                  <a:srgbClr val="9A94B3"/>
                </a:solidFill>
                <a:latin typeface="Calibri" pitchFamily="34" charset="0"/>
                <a:ea typeface="Calibri" pitchFamily="34" charset="-122"/>
                <a:cs typeface="Calibri" pitchFamily="34" charset="-120"/>
              </a:rPr>
              <a:t>Une démonstration en direct du site est disponible en ligne</a:t>
            </a:r>
            <a:endParaRPr lang="en-US" sz="1500" dirty="0"/>
          </a:p>
        </p:txBody>
      </p:sp>
      <p:sp>
        <p:nvSpPr>
          <p:cNvPr id="5" name="Shape 3"/>
          <p:cNvSpPr/>
          <p:nvPr/>
        </p:nvSpPr>
        <p:spPr>
          <a:xfrm>
            <a:off x="4270248" y="3749040"/>
            <a:ext cx="3657600" cy="594360"/>
          </a:xfrm>
          <a:prstGeom prst="roundRect">
            <a:avLst>
              <a:gd name="adj" fmla="val 49231"/>
            </a:avLst>
          </a:prstGeom>
          <a:solidFill>
            <a:srgbClr val="14101F"/>
          </a:solidFill>
          <a:ln w="15875">
            <a:solidFill>
              <a:srgbClr val="8B5CF6"/>
            </a:solidFill>
            <a:prstDash val="solid"/>
          </a:ln>
        </p:spPr>
      </p:sp>
      <p:pic>
        <p:nvPicPr>
          <p:cNvPr id="6" name="Image 0" descr="/home/claude/pptx_project/icons/github_A78BFA.png"/>
          <p:cNvPicPr>
            <a:picLocks noChangeAspect="1"/>
          </p:cNvPicPr>
          <p:nvPr/>
        </p:nvPicPr>
        <p:blipFill>
          <a:blip r:embed="rId3"/>
          <a:stretch>
            <a:fillRect/>
          </a:stretch>
        </p:blipFill>
        <p:spPr>
          <a:xfrm>
            <a:off x="4526280" y="3913632"/>
            <a:ext cx="274320" cy="274320"/>
          </a:xfrm>
          <a:prstGeom prst="rect">
            <a:avLst/>
          </a:prstGeom>
        </p:spPr>
      </p:pic>
      <p:sp>
        <p:nvSpPr>
          <p:cNvPr id="7" name="Text 4"/>
          <p:cNvSpPr/>
          <p:nvPr/>
        </p:nvSpPr>
        <p:spPr>
          <a:xfrm>
            <a:off x="4892040" y="3749040"/>
            <a:ext cx="2926080" cy="594360"/>
          </a:xfrm>
          <a:prstGeom prst="rect">
            <a:avLst/>
          </a:prstGeom>
          <a:noFill/>
          <a:ln/>
        </p:spPr>
        <p:txBody>
          <a:bodyPr wrap="square" lIns="0" tIns="0" rIns="0" bIns="0" rtlCol="0" anchor="ctr"/>
          <a:lstStyle/>
          <a:p>
            <a:pPr marL="0" indent="0">
              <a:buNone/>
            </a:pPr>
            <a:r>
              <a:rPr lang="en-US" sz="1050" dirty="0">
                <a:solidFill>
                  <a:srgbClr val="A78BFA"/>
                </a:solidFill>
                <a:latin typeface="Calibri" pitchFamily="34" charset="0"/>
                <a:ea typeface="Calibri" pitchFamily="34" charset="-122"/>
                <a:cs typeface="Calibri" pitchFamily="34" charset="-120"/>
              </a:rPr>
              <a:t>github.com/Fatougaye18/GAYE-Fatou-AfriConnectSummit</a:t>
            </a:r>
            <a:endParaRPr lang="en-US" sz="1050" dirty="0"/>
          </a:p>
        </p:txBody>
      </p:sp>
      <p:sp>
        <p:nvSpPr>
          <p:cNvPr id="8" name="Text 5"/>
          <p:cNvSpPr/>
          <p:nvPr/>
        </p:nvSpPr>
        <p:spPr>
          <a:xfrm>
            <a:off x="914400" y="4663440"/>
            <a:ext cx="10360152" cy="365760"/>
          </a:xfrm>
          <a:prstGeom prst="rect">
            <a:avLst/>
          </a:prstGeom>
          <a:noFill/>
          <a:ln/>
        </p:spPr>
        <p:txBody>
          <a:bodyPr wrap="square" lIns="0" tIns="0" rIns="0" bIns="0" rtlCol="0" anchor="ctr"/>
          <a:lstStyle/>
          <a:p>
            <a:pPr marL="0" indent="0" algn="ctr">
              <a:buNone/>
            </a:pPr>
            <a:r>
              <a:rPr lang="en-US" sz="1200" dirty="0">
                <a:solidFill>
                  <a:srgbClr val="9A94B3"/>
                </a:solidFill>
                <a:latin typeface="Calibri" pitchFamily="34" charset="0"/>
                <a:ea typeface="Calibri" pitchFamily="34" charset="-122"/>
                <a:cs typeface="Calibri" pitchFamily="34" charset="-120"/>
              </a:rPr>
              <a:t>Fatou Gaye  ·  Examen Web L1  ·   ISI</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948</Words>
  <Application>Microsoft Office PowerPoint</Application>
  <PresentationFormat>Grand écran</PresentationFormat>
  <Paragraphs>182</Paragraphs>
  <Slides>12</Slides>
  <Notes>12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bvefa06@gmail.com</cp:lastModifiedBy>
  <cp:revision>3</cp:revision>
  <dcterms:created xsi:type="dcterms:W3CDTF">2026-07-18T18:13:18Z</dcterms:created>
  <dcterms:modified xsi:type="dcterms:W3CDTF">2026-07-18T19:13:10Z</dcterms:modified>
</cp:coreProperties>
</file>